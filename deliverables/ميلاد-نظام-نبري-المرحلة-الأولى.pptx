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5192f501f7d4624" /><Relationship Type="http://schemas.openxmlformats.org/officeDocument/2006/relationships/extended-properties" Target="/docProps/app.xml" Id="R271813c912704250" /><Relationship Type="http://schemas.openxmlformats.org/officeDocument/2006/relationships/officeDocument" Target="/ppt/presentation.xml" Id="Rf37fc6cb9ac34714" /></Relationships>
</file>

<file path=ppt/presentation.xml><?xml version="1.0" encoding="utf-8"?>
<p:presentation xmlns:p="http://schemas.openxmlformats.org/presentationml/2006/main">
  <p:sldMasterIdLst>
    <p:sldMasterId xmlns:r="http://schemas.openxmlformats.org/officeDocument/2006/relationships" id="2147483648" r:id="Rbe73f9c63b0e4c32"/>
  </p:sldMasterIdLst>
  <p:notesMasterIdLst>
    <p:notesMasterId xmlns:r="http://schemas.openxmlformats.org/officeDocument/2006/relationships" r:id="R56040f51aca64c04"/>
  </p:notesMasterIdLst>
  <p:sldIdLst>
    <p:sldId xmlns:r="http://schemas.openxmlformats.org/officeDocument/2006/relationships" id="256" r:id="R68b22afefd464b5b"/>
    <p:sldId xmlns:r="http://schemas.openxmlformats.org/officeDocument/2006/relationships" id="257" r:id="R3f4aaf40f4eb499c"/>
    <p:sldId xmlns:r="http://schemas.openxmlformats.org/officeDocument/2006/relationships" id="258" r:id="Ra250ede0528a4194"/>
    <p:sldId xmlns:r="http://schemas.openxmlformats.org/officeDocument/2006/relationships" id="259" r:id="Rc57b1b4aab994804"/>
    <p:sldId xmlns:r="http://schemas.openxmlformats.org/officeDocument/2006/relationships" id="260" r:id="Ra09d5ad0e41b4b42"/>
    <p:sldId xmlns:r="http://schemas.openxmlformats.org/officeDocument/2006/relationships" id="261" r:id="Rf616501c96ba44c5"/>
    <p:sldId xmlns:r="http://schemas.openxmlformats.org/officeDocument/2006/relationships" id="262" r:id="Ra36ff1946b724dc5"/>
    <p:sldId xmlns:r="http://schemas.openxmlformats.org/officeDocument/2006/relationships" id="263" r:id="Rb7e75d81594941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d207242e2f48be" /><Relationship Type="http://schemas.openxmlformats.org/officeDocument/2006/relationships/slideMaster" Target="/ppt/slideMasters/slideMaster1.xml" Id="Rbe73f9c63b0e4c32" /><Relationship Type="http://schemas.openxmlformats.org/officeDocument/2006/relationships/notesMaster" Target="/ppt/notesMasters/notesMaster1.xml" Id="R56040f51aca64c04" /><Relationship Type="http://schemas.openxmlformats.org/officeDocument/2006/relationships/presProps" Target="/ppt/presProps.xml" Id="R1fbc74351f2942c8" /><Relationship Type="http://schemas.openxmlformats.org/officeDocument/2006/relationships/tableStyles" Target="/ppt/tableStyles.xml" Id="R48655bdc05dd40e3" /><Relationship Type="http://schemas.openxmlformats.org/officeDocument/2006/relationships/slide" Target="/ppt/slides/slide1.xml" Id="R68b22afefd464b5b" /><Relationship Type="http://schemas.openxmlformats.org/officeDocument/2006/relationships/slide" Target="/ppt/slides/slide2.xml" Id="R3f4aaf40f4eb499c" /><Relationship Type="http://schemas.openxmlformats.org/officeDocument/2006/relationships/slide" Target="/ppt/slides/slide3.xml" Id="Ra250ede0528a4194" /><Relationship Type="http://schemas.openxmlformats.org/officeDocument/2006/relationships/slide" Target="/ppt/slides/slide4.xml" Id="Rc57b1b4aab994804" /><Relationship Type="http://schemas.openxmlformats.org/officeDocument/2006/relationships/slide" Target="/ppt/slides/slide5.xml" Id="Ra09d5ad0e41b4b42" /><Relationship Type="http://schemas.openxmlformats.org/officeDocument/2006/relationships/slide" Target="/ppt/slides/slide6.xml" Id="Rf616501c96ba44c5" /><Relationship Type="http://schemas.openxmlformats.org/officeDocument/2006/relationships/slide" Target="/ppt/slides/slide7.xml" Id="Ra36ff1946b724dc5" /><Relationship Type="http://schemas.openxmlformats.org/officeDocument/2006/relationships/slide" Target="/ppt/slides/slide8.xml" Id="Rb7e75d81594941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030c6ca76c44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e0f27e7972429c" /><Relationship Type="http://schemas.openxmlformats.org/officeDocument/2006/relationships/notesMaster" Target="/ppt/notesMasters/notesMaster1.xml" Id="Rc81c02db27af46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2009006ec84fdc" /><Relationship Type="http://schemas.openxmlformats.org/officeDocument/2006/relationships/notesMaster" Target="/ppt/notesMasters/notesMaster1.xml" Id="R1802adaa97844a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16557962c84e35" /><Relationship Type="http://schemas.openxmlformats.org/officeDocument/2006/relationships/notesMaster" Target="/ppt/notesMasters/notesMaster1.xml" Id="Rb23fea6bb6184b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527ffd18844191" /><Relationship Type="http://schemas.openxmlformats.org/officeDocument/2006/relationships/notesMaster" Target="/ppt/notesMasters/notesMaster1.xml" Id="R2350a37e0c5641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0094cc440244c3" /><Relationship Type="http://schemas.openxmlformats.org/officeDocument/2006/relationships/notesMaster" Target="/ppt/notesMasters/notesMaster1.xml" Id="Rec329fdf5a4f48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de4487621749a1" /><Relationship Type="http://schemas.openxmlformats.org/officeDocument/2006/relationships/notesMaster" Target="/ppt/notesMasters/notesMaster1.xml" Id="R73274e1aeb7743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65adc1d8f24bd8" /><Relationship Type="http://schemas.openxmlformats.org/officeDocument/2006/relationships/notesMaster" Target="/ppt/notesMasters/notesMaster1.xml" Id="R01cea1460bca49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367acd665440d1" /><Relationship Type="http://schemas.openxmlformats.org/officeDocument/2006/relationships/notesMaster" Target="/ppt/notesMasters/notesMaster1.xml" Id="R31f28077a7a846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ابدأ بهذه الجملة: اليوم لا نعرض فكرة نظرية؛ نحن نعرض أول نسخة تشغيلية من نظام نبري. الهدف من اللقاء هو تجربة الرحلة كاملة، ثم اعتماد قائمة الأسعار وتحديد أول مجموعة عملاء للتشغيل.</a:t>
            </a:r>
          </a:p>
          <a:p xmlns:a="http://schemas.openxmlformats.org/drawingml/2006/main">
            <a:r>
              <a:t/>
            </a:r>
          </a:p>
          <a:p xmlns:a="http://schemas.openxmlformats.org/drawingml/2006/main">
            <a:r>
              <a:t>[Sources]</a:t>
            </a:r>
          </a:p>
          <a:p xmlns:a="http://schemas.openxmlformats.org/drawingml/2006/main">
            <a:r>
              <a:t>- نظام نبري المحلي واختبارات المرحلة الأولى، 21 أغسطس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اشرح أن النظام لا يلغي الخبرة الحالية ولا يطلب تغيير الشركة دفعة واحدة. هو يجمع خطوات البيع الأساسية في مكان واحد حتى يصبح القرار أسرع، والسعر واحدًا، والمتابعة واضحة.</a:t>
            </a:r>
          </a:p>
          <a:p xmlns:a="http://schemas.openxmlformats.org/drawingml/2006/main">
            <a:r>
              <a:t/>
            </a:r>
          </a:p>
          <a:p xmlns:a="http://schemas.openxmlformats.org/drawingml/2006/main">
            <a:r>
              <a:t>[Sources]</a:t>
            </a:r>
          </a:p>
          <a:p xmlns:a="http://schemas.openxmlformats.org/drawingml/2006/main">
            <a:r>
              <a:t>- نظام نبري المحلي واختبارات المرحلة الأولى، 21 أغسطس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اعرض الواجهات بالترتيب: الإدارة ثم المندوب ثم العميل. ركّز على أن الاختلاف في الشاشة لا يعني اختلاف البيانات؛ الطلب الذي يرسله العميل يظهر لدى الإدارة، ويصبح جزءًا من عمل المندوب.</a:t>
            </a:r>
          </a:p>
          <a:p xmlns:a="http://schemas.openxmlformats.org/drawingml/2006/main">
            <a:r>
              <a:t/>
            </a:r>
          </a:p>
          <a:p xmlns:a="http://schemas.openxmlformats.org/drawingml/2006/main">
            <a:r>
              <a:t>[Sources]</a:t>
            </a:r>
          </a:p>
          <a:p xmlns:a="http://schemas.openxmlformats.org/drawingml/2006/main">
            <a:r>
              <a:t>- نظام نبري المحلي واختبارات المرحلة الأولى، 21 أغسطس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هذه أهم شريحة في العرض. وضّح أن العميل والمندوب لا يحددان السعر من عندهما. السعر يأتي من قائمة واحدة، وعند إرسال الطلب يراجع الخادم السعر والمخزون قبل تسجيل العملية. القرار المطلوب من غسان: اعتماد نسخة الأسعار الأولى أو تحديد تعديلات واضحة عليها.</a:t>
            </a:r>
          </a:p>
          <a:p xmlns:a="http://schemas.openxmlformats.org/drawingml/2006/main">
            <a:r>
              <a:t/>
            </a:r>
          </a:p>
          <a:p xmlns:a="http://schemas.openxmlformats.org/drawingml/2006/main">
            <a:r>
              <a:t>[Sources]</a:t>
            </a:r>
          </a:p>
          <a:p xmlns:a="http://schemas.openxmlformats.org/drawingml/2006/main">
            <a:r>
              <a:t>- نظام نبري المحلي واختبارات المرحلة الأولى، 21 أغسطس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مرّ على الخطوات الخمس بسرعة. الهدف هو إظهار أن النظام ليس شاشة طلب فقط؛ إنه يحفظ حالة العمل حتى نعرف أين توقف الطلب وما الذي تم تحصيله من العميل.</a:t>
            </a:r>
          </a:p>
          <a:p xmlns:a="http://schemas.openxmlformats.org/drawingml/2006/main">
            <a:r>
              <a:t/>
            </a:r>
          </a:p>
          <a:p xmlns:a="http://schemas.openxmlformats.org/drawingml/2006/main">
            <a:r>
              <a:t>[Sources]</a:t>
            </a:r>
          </a:p>
          <a:p xmlns:a="http://schemas.openxmlformats.org/drawingml/2006/main">
            <a:r>
              <a:t>- نظام نبري المحلي واختبارات المرحلة الأولى، 21 أغسطس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استخدم هذه الشريحة لضبط التوقعات. نحن لا نخفي الوظائف المستقبلية، ولا نسمح لها بتشتيت التشغيل الأول. عند فتح أي وظيفة مؤجلة يظهر ما تحتاجه لتصبح قابلة للتفعيل.</a:t>
            </a:r>
          </a:p>
          <a:p xmlns:a="http://schemas.openxmlformats.org/drawingml/2006/main">
            <a:r>
              <a:t/>
            </a:r>
          </a:p>
          <a:p xmlns:a="http://schemas.openxmlformats.org/drawingml/2006/main">
            <a:r>
              <a:t>[Sources]</a:t>
            </a:r>
          </a:p>
          <a:p xmlns:a="http://schemas.openxmlformats.org/drawingml/2006/main">
            <a:r>
              <a:t>- نظام نبري المحلي واختبارات المرحلة الأولى، 21 أغسطس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لا تبدأ بشرح كل القوائم. نفّذ السيناريو الخماسي كما هو. بعد ظهور الطلب في الإدارة، توقف لحظة وقل: هذه نفس البيانات التي دخلت من واجهة العميل. النسخة المرفوعة خاصة بالمالك حاليًا، لذلك استخدم جهازك المسجل للدخول في الاجتماع.</a:t>
            </a:r>
          </a:p>
          <a:p xmlns:a="http://schemas.openxmlformats.org/drawingml/2006/main">
            <a:r>
              <a:t/>
            </a:r>
          </a:p>
          <a:p xmlns:a="http://schemas.openxmlformats.org/drawingml/2006/main">
            <a:r>
              <a:t>[Sources]</a:t>
            </a:r>
          </a:p>
          <a:p xmlns:a="http://schemas.openxmlformats.org/drawingml/2006/main">
            <a:r>
              <a:t>- اختبار المتصفح المحلي للواجهات الثلاث، ونسخة Sites المؤقتة الخاصة: https://napri-sales-phase-one-2026.logman-gelany.chatgpt.site — 21 أغسطس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اختم بطلب ثلاثة قرارات محددة: اعتماد قائمة الأسعار، اختيار أول عشرين عميلًا، وتحديد من يراجع الطلبات والتحصيل يوميًا. لا تطلب اعتماد مرحلة ثانية الآن؛ النجاح المطلوب هو أسبوع تشغيل فعلي ثم مراجعة النتائج.</a:t>
            </a:r>
          </a:p>
          <a:p xmlns:a="http://schemas.openxmlformats.org/drawingml/2006/main">
            <a:r>
              <a:t/>
            </a:r>
          </a:p>
          <a:p xmlns:a="http://schemas.openxmlformats.org/drawingml/2006/main">
            <a:r>
              <a:t>[Sources]</a:t>
            </a:r>
          </a:p>
          <a:p xmlns:a="http://schemas.openxmlformats.org/drawingml/2006/main">
            <a:r>
              <a:t>- نظام نبري المحلي واختبارات المرحلة الأولى، 21 أغسطس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b6ca92fa774b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f0e4f3eb8b4ef7" /><Relationship Type="http://schemas.openxmlformats.org/officeDocument/2006/relationships/slideLayout" Target="/ppt/slideLayouts/slideLayout1.xml" Id="R4262651268d14b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62651268d14b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0dee5917e24204" /><Relationship Type="http://schemas.openxmlformats.org/officeDocument/2006/relationships/notesSlide" Target="/ppt/notesSlides/notesSlide1.xml" Id="R1f50c0d910aa40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1fe9549d104244" /><Relationship Type="http://schemas.openxmlformats.org/officeDocument/2006/relationships/notesSlide" Target="/ppt/notesSlides/notesSlide2.xml" Id="R8e384ab8743b47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81daea2840a4a41" /><Relationship Type="http://schemas.openxmlformats.org/officeDocument/2006/relationships/notesSlide" Target="/ppt/notesSlides/notesSlide3.xml" Id="Rf6e14e9af9c04f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fad54ba32f4e45" /><Relationship Type="http://schemas.openxmlformats.org/officeDocument/2006/relationships/notesSlide" Target="/ppt/notesSlides/notesSlide4.xml" Id="R0d2512a6858441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81ead184b0453f" /><Relationship Type="http://schemas.openxmlformats.org/officeDocument/2006/relationships/notesSlide" Target="/ppt/notesSlides/notesSlide5.xml" Id="Rb8aabbbf575f48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9becbe717b4ea1" /><Relationship Type="http://schemas.openxmlformats.org/officeDocument/2006/relationships/notesSlide" Target="/ppt/notesSlides/notesSlide6.xml" Id="R1d73af9210a546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6f2235089a41c5" /><Relationship Type="http://schemas.openxmlformats.org/officeDocument/2006/relationships/notesSlide" Target="/ppt/notesSlides/notesSlide7.xml" Id="R4b94812d1afb4f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4f3ca68d8ce457c" /><Relationship Type="http://schemas.openxmlformats.org/officeDocument/2006/relationships/notesSlide" Target="/ppt/notesSlides/notesSlide8.xml" Id="Rbb152216c6af4122" /></Relationships>
</file>

<file path=ppt/slides/slide1.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4E03211-D563-47EF-BCDC-14DB596471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6CEE548-714D-4DB6-88BE-13A0B282805B}"/>
              </a:ext>
            </a:extLst>
          </p:cNvPr>
          <p:cNvSpPr>
            <a:spLocks xmlns:a="http://schemas.openxmlformats.org/drawingml/2006/main" noGrp="1"/>
          </p:cNvSpPr>
          <p:nvPr/>
        </p:nvSpPr>
        <p:spPr>
          <a:xfrm xmlns:a="http://schemas.openxmlformats.org/drawingml/2006/main">
            <a:off x="6934200" y="0"/>
            <a:ext cx="5257800" cy="6858000"/>
          </a:xfrm>
          <a:prstGeom xmlns:a="http://schemas.openxmlformats.org/drawingml/2006/main" prst="rect">
            <a:avLst/>
          </a:prstGeom>
          <a:solidFill xmlns:a="http://schemas.openxmlformats.org/drawingml/2006/main">
            <a:srgbClr val="123C2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2EEA891-BA58-4E13-A779-EC1D697CEF88}"/>
              </a:ext>
            </a:extLst>
          </p:cNvPr>
          <p:cNvSpPr>
            <a:spLocks xmlns:a="http://schemas.openxmlformats.org/drawingml/2006/main" noGrp="1"/>
          </p:cNvSpPr>
          <p:nvPr/>
        </p:nvSpPr>
        <p:spPr>
          <a:xfrm xmlns:a="http://schemas.openxmlformats.org/drawingml/2006/main">
            <a:off x="6934200" y="0"/>
            <a:ext cx="171450" cy="6858000"/>
          </a:xfrm>
          <a:prstGeom xmlns:a="http://schemas.openxmlformats.org/drawingml/2006/main" prst="rect">
            <a:avLst/>
          </a:prstGeom>
          <a:solidFill xmlns:a="http://schemas.openxmlformats.org/drawingml/2006/main">
            <a:srgbClr val="D9EF9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F4FB8C7-54AE-49BE-A4FB-B1EEE310EC4D}"/>
              </a:ext>
            </a:extLst>
          </p:cNvPr>
          <p:cNvSpPr>
            <a:spLocks xmlns:a="http://schemas.openxmlformats.org/drawingml/2006/main" noGrp="1"/>
          </p:cNvSpPr>
          <p:nvPr/>
        </p:nvSpPr>
        <p:spPr>
          <a:xfrm xmlns:a="http://schemas.openxmlformats.org/drawingml/2006/main">
            <a:off x="704850" y="571500"/>
            <a:ext cx="53340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1">
                <a:solidFill>
                  <a:srgbClr val="1D5A43"/>
                </a:solidFill>
                <a:latin typeface="Arial"/>
                <a:ea typeface="Arial"/>
                <a:cs typeface="Arial"/>
              </a:defRPr>
            </a:pPr>
            <a:r>
              <a:t>عرض خاص للسيد غسان جيلاني</a:t>
            </a:r>
          </a:p>
        </p:txBody>
      </p:sp>
      <p:sp>
        <p:nvSpPr>
          <p:cNvPr id="5" name="">
            <a:extLst xmlns:a="http://schemas.openxmlformats.org/drawingml/2006/main">
              <a:ext uri="{FF2B5EF4-FFF2-40B4-BE49-F238E27FC236}">
                <a16:creationId xmlns:a16="http://schemas.microsoft.com/office/drawing/2014/main" id="{F0FB73C5-1242-4422-A20C-CFFCB2F25016}"/>
              </a:ext>
            </a:extLst>
          </p:cNvPr>
          <p:cNvSpPr>
            <a:spLocks xmlns:a="http://schemas.openxmlformats.org/drawingml/2006/main" noGrp="1"/>
          </p:cNvSpPr>
          <p:nvPr/>
        </p:nvSpPr>
        <p:spPr>
          <a:xfrm xmlns:a="http://schemas.openxmlformats.org/drawingml/2006/main">
            <a:off x="704850" y="1428750"/>
            <a:ext cx="5429250" cy="2000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5700" b="1">
                <a:solidFill>
                  <a:srgbClr val="14231C"/>
                </a:solidFill>
                <a:latin typeface="Arial"/>
                <a:ea typeface="Arial"/>
                <a:cs typeface="Arial"/>
              </a:defRPr>
            </a:pPr>
            <a:r>
              <a:t>ميلاد
نظام نبري</a:t>
            </a:r>
          </a:p>
        </p:txBody>
      </p:sp>
      <p:sp>
        <p:nvSpPr>
          <p:cNvPr id="6" name="">
            <a:extLst xmlns:a="http://schemas.openxmlformats.org/drawingml/2006/main">
              <a:ext uri="{FF2B5EF4-FFF2-40B4-BE49-F238E27FC236}">
                <a16:creationId xmlns:a16="http://schemas.microsoft.com/office/drawing/2014/main" id="{AC74E6CE-5E31-4D55-92D1-D7F61AE72807}"/>
              </a:ext>
            </a:extLst>
          </p:cNvPr>
          <p:cNvSpPr>
            <a:spLocks xmlns:a="http://schemas.openxmlformats.org/drawingml/2006/main" noGrp="1"/>
          </p:cNvSpPr>
          <p:nvPr/>
        </p:nvSpPr>
        <p:spPr>
          <a:xfrm xmlns:a="http://schemas.openxmlformats.org/drawingml/2006/main">
            <a:off x="704850" y="3714750"/>
            <a:ext cx="5429250" cy="609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100" b="0">
                <a:solidFill>
                  <a:srgbClr val="66716B"/>
                </a:solidFill>
                <a:latin typeface="Arial"/>
                <a:ea typeface="Arial"/>
                <a:cs typeface="Arial"/>
              </a:defRPr>
            </a:pPr>
            <a:r>
              <a:t>من طلب العميل إلى التحصيل — في مسار واحد</a:t>
            </a:r>
          </a:p>
        </p:txBody>
      </p:sp>
      <p:sp>
        <p:nvSpPr>
          <p:cNvPr id="7" name="">
            <a:extLst xmlns:a="http://schemas.openxmlformats.org/drawingml/2006/main">
              <a:ext uri="{FF2B5EF4-FFF2-40B4-BE49-F238E27FC236}">
                <a16:creationId xmlns:a16="http://schemas.microsoft.com/office/drawing/2014/main" id="{7CF40609-C6C8-40BD-A1BA-22135510EE9D}"/>
              </a:ext>
            </a:extLst>
          </p:cNvPr>
          <p:cNvSpPr>
            <a:spLocks xmlns:a="http://schemas.openxmlformats.org/drawingml/2006/main" noGrp="1"/>
          </p:cNvSpPr>
          <p:nvPr/>
        </p:nvSpPr>
        <p:spPr>
          <a:xfrm xmlns:a="http://schemas.openxmlformats.org/drawingml/2006/main">
            <a:off x="704850" y="4953000"/>
            <a:ext cx="4000500" cy="571500"/>
          </a:xfrm>
          <a:prstGeom xmlns:a="http://schemas.openxmlformats.org/drawingml/2006/main" prst="roundRect">
            <a:avLst>
              <a:gd name="adj" fmla="val 13333"/>
            </a:avLst>
          </a:prstGeom>
          <a:solidFill xmlns:a="http://schemas.openxmlformats.org/drawingml/2006/main">
            <a:srgbClr val="D9EF9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6F62099-194C-421E-9168-A9270BBEE776}"/>
              </a:ext>
            </a:extLst>
          </p:cNvPr>
          <p:cNvSpPr>
            <a:spLocks xmlns:a="http://schemas.openxmlformats.org/drawingml/2006/main" noGrp="1"/>
          </p:cNvSpPr>
          <p:nvPr/>
        </p:nvSpPr>
        <p:spPr>
          <a:xfrm xmlns:a="http://schemas.openxmlformats.org/drawingml/2006/main">
            <a:off x="923925" y="5114925"/>
            <a:ext cx="356235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23C2D"/>
                </a:solidFill>
                <a:latin typeface="Arial"/>
                <a:ea typeface="Arial"/>
                <a:cs typeface="Arial"/>
              </a:defRPr>
            </a:pPr>
            <a:r>
              <a:t>المرحلة الأولى · قابلة للتجربة الآن</a:t>
            </a:r>
          </a:p>
        </p:txBody>
      </p:sp>
      <p:sp>
        <p:nvSpPr>
          <p:cNvPr id="9" name="">
            <a:extLst xmlns:a="http://schemas.openxmlformats.org/drawingml/2006/main">
              <a:ext uri="{FF2B5EF4-FFF2-40B4-BE49-F238E27FC236}">
                <a16:creationId xmlns:a16="http://schemas.microsoft.com/office/drawing/2014/main" id="{A0A134C4-2DA1-4BDD-9355-A35BA0431200}"/>
              </a:ext>
            </a:extLst>
          </p:cNvPr>
          <p:cNvSpPr>
            <a:spLocks xmlns:a="http://schemas.openxmlformats.org/drawingml/2006/main" noGrp="1"/>
          </p:cNvSpPr>
          <p:nvPr/>
        </p:nvSpPr>
        <p:spPr>
          <a:xfrm xmlns:a="http://schemas.openxmlformats.org/drawingml/2006/main">
            <a:off x="704850" y="6096000"/>
            <a:ext cx="2857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6B"/>
                </a:solidFill>
                <a:latin typeface="Arial"/>
                <a:ea typeface="Arial"/>
                <a:cs typeface="Arial"/>
              </a:defRPr>
            </a:pPr>
            <a:r>
              <a:t>21 أغسطس 2026</a:t>
            </a:r>
          </a:p>
        </p:txBody>
      </p:sp>
      <p:sp>
        <p:nvSpPr>
          <p:cNvPr id="10" name="">
            <a:extLst xmlns:a="http://schemas.openxmlformats.org/drawingml/2006/main">
              <a:ext uri="{FF2B5EF4-FFF2-40B4-BE49-F238E27FC236}">
                <a16:creationId xmlns:a16="http://schemas.microsoft.com/office/drawing/2014/main" id="{07F03329-AA95-4B66-B6C2-5779FB0B0F28}"/>
              </a:ext>
            </a:extLst>
          </p:cNvPr>
          <p:cNvSpPr>
            <a:spLocks xmlns:a="http://schemas.openxmlformats.org/drawingml/2006/main" noGrp="1"/>
          </p:cNvSpPr>
          <p:nvPr/>
        </p:nvSpPr>
        <p:spPr>
          <a:xfrm xmlns:a="http://schemas.openxmlformats.org/drawingml/2006/main">
            <a:off x="8324850" y="1257300"/>
            <a:ext cx="2438400" cy="2438400"/>
          </a:xfrm>
          <a:prstGeom xmlns:a="http://schemas.openxmlformats.org/drawingml/2006/main" prst="ellipse">
            <a:avLst/>
          </a:prstGeom>
          <a:solidFill xmlns:a="http://schemas.openxmlformats.org/drawingml/2006/main">
            <a:srgbClr val="D9EF9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10EF17F-1D0D-4A2F-96C8-149530C9868B}"/>
              </a:ext>
            </a:extLst>
          </p:cNvPr>
          <p:cNvSpPr>
            <a:spLocks xmlns:a="http://schemas.openxmlformats.org/drawingml/2006/main" noGrp="1"/>
          </p:cNvSpPr>
          <p:nvPr/>
        </p:nvSpPr>
        <p:spPr>
          <a:xfrm xmlns:a="http://schemas.openxmlformats.org/drawingml/2006/main">
            <a:off x="8496300" y="2000250"/>
            <a:ext cx="2095500" cy="8572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5100" b="1">
                <a:solidFill>
                  <a:srgbClr val="123C2D"/>
                </a:solidFill>
                <a:latin typeface="Arial"/>
                <a:ea typeface="Arial"/>
                <a:cs typeface="Arial"/>
              </a:defRPr>
            </a:pPr>
            <a:r>
              <a:t>نبري</a:t>
            </a:r>
          </a:p>
        </p:txBody>
      </p:sp>
      <p:sp>
        <p:nvSpPr>
          <p:cNvPr id="12" name="">
            <a:extLst xmlns:a="http://schemas.openxmlformats.org/drawingml/2006/main">
              <a:ext uri="{FF2B5EF4-FFF2-40B4-BE49-F238E27FC236}">
                <a16:creationId xmlns:a16="http://schemas.microsoft.com/office/drawing/2014/main" id="{BF099CC1-4756-4CBB-8714-122FEE3BF1F1}"/>
              </a:ext>
            </a:extLst>
          </p:cNvPr>
          <p:cNvSpPr>
            <a:spLocks xmlns:a="http://schemas.openxmlformats.org/drawingml/2006/main" noGrp="1"/>
          </p:cNvSpPr>
          <p:nvPr/>
        </p:nvSpPr>
        <p:spPr>
          <a:xfrm xmlns:a="http://schemas.openxmlformats.org/drawingml/2006/main">
            <a:off x="8210550" y="2952750"/>
            <a:ext cx="23241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EF7D7"/>
                </a:solidFill>
                <a:latin typeface="Arial"/>
                <a:ea typeface="Arial"/>
                <a:cs typeface="Arial"/>
              </a:defRPr>
            </a:pPr>
            <a:r>
              <a:t>SALES · DISTRIBUTION</a:t>
            </a:r>
          </a:p>
        </p:txBody>
      </p:sp>
      <p:sp>
        <p:nvSpPr>
          <p:cNvPr id="13" name="">
            <a:extLst xmlns:a="http://schemas.openxmlformats.org/drawingml/2006/main">
              <a:ext uri="{FF2B5EF4-FFF2-40B4-BE49-F238E27FC236}">
                <a16:creationId xmlns:a16="http://schemas.microsoft.com/office/drawing/2014/main" id="{D4C3CBD9-34EA-4DE2-8A2B-0A50AAD832B4}"/>
              </a:ext>
            </a:extLst>
          </p:cNvPr>
          <p:cNvSpPr>
            <a:spLocks xmlns:a="http://schemas.openxmlformats.org/drawingml/2006/main" noGrp="1"/>
          </p:cNvSpPr>
          <p:nvPr/>
        </p:nvSpPr>
        <p:spPr>
          <a:xfrm xmlns:a="http://schemas.openxmlformats.org/drawingml/2006/main">
            <a:off x="7600950" y="5334000"/>
            <a:ext cx="3886200" cy="571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1">
                <a:solidFill>
                  <a:srgbClr val="FFFFFF"/>
                </a:solidFill>
                <a:latin typeface="Arial"/>
                <a:ea typeface="Arial"/>
                <a:cs typeface="Arial"/>
              </a:defRPr>
            </a:pPr>
            <a:r>
              <a:t>نسخة تشغيلية، لا مجرد تصور</a:t>
            </a:r>
          </a:p>
        </p:txBody>
      </p:sp>
    </p:spTree>
    <p:extLst>
      <p:ext uri="{BB962C8B-B14F-4D97-AF65-F5344CB8AC3E}">
        <p14:creationId xmlns:p14="http://schemas.microsoft.com/office/powerpoint/2010/main" val="457604667"/>
      </p:ext>
    </p:extLst>
  </p:cSld>
</p:sld>
</file>

<file path=ppt/slides/slide2.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C0CAC2B-199F-4ECB-9094-309CCA5B246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D9EF9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467301D-8BBB-491F-985B-10DCF777BCF7}"/>
              </a:ext>
            </a:extLst>
          </p:cNvPr>
          <p:cNvSpPr>
            <a:spLocks xmlns:a="http://schemas.openxmlformats.org/drawingml/2006/main" noGrp="1"/>
          </p:cNvSpPr>
          <p:nvPr/>
        </p:nvSpPr>
        <p:spPr>
          <a:xfrm xmlns:a="http://schemas.openxmlformats.org/drawingml/2006/main">
            <a:off x="8515350" y="323850"/>
            <a:ext cx="29527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D5A43"/>
                </a:solidFill>
                <a:latin typeface="Arial"/>
                <a:ea typeface="Arial"/>
                <a:cs typeface="Arial"/>
              </a:defRPr>
            </a:pPr>
            <a:r>
              <a:t>من التشتت إلى السيطرة</a:t>
            </a:r>
          </a:p>
        </p:txBody>
      </p:sp>
      <p:sp>
        <p:nvSpPr>
          <p:cNvPr id="3" name="">
            <a:extLst xmlns:a="http://schemas.openxmlformats.org/drawingml/2006/main">
              <a:ext uri="{FF2B5EF4-FFF2-40B4-BE49-F238E27FC236}">
                <a16:creationId xmlns:a16="http://schemas.microsoft.com/office/drawing/2014/main" id="{B82A6FA2-9BA8-41EC-9DA0-B8356335C17F}"/>
              </a:ext>
            </a:extLst>
          </p:cNvPr>
          <p:cNvSpPr>
            <a:spLocks xmlns:a="http://schemas.openxmlformats.org/drawingml/2006/main" noGrp="1"/>
          </p:cNvSpPr>
          <p:nvPr/>
        </p:nvSpPr>
        <p:spPr>
          <a:xfrm xmlns:a="http://schemas.openxmlformats.org/drawingml/2006/main">
            <a:off x="704850" y="628650"/>
            <a:ext cx="1076325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3300" b="1">
                <a:solidFill>
                  <a:srgbClr val="14231C"/>
                </a:solidFill>
                <a:latin typeface="Arial"/>
                <a:ea typeface="Arial"/>
                <a:cs typeface="Arial"/>
              </a:defRPr>
            </a:pPr>
            <a:r>
              <a:t>لماذا احتجنا هذا النظام؟</a:t>
            </a:r>
          </a:p>
        </p:txBody>
      </p:sp>
      <p:sp>
        <p:nvSpPr>
          <p:cNvPr id="4" name="">
            <a:extLst xmlns:a="http://schemas.openxmlformats.org/drawingml/2006/main">
              <a:ext uri="{FF2B5EF4-FFF2-40B4-BE49-F238E27FC236}">
                <a16:creationId xmlns:a16="http://schemas.microsoft.com/office/drawing/2014/main" id="{E71D42A2-AA26-4FD2-9188-5DBFDBA56EA6}"/>
              </a:ext>
            </a:extLst>
          </p:cNvPr>
          <p:cNvSpPr>
            <a:spLocks xmlns:a="http://schemas.openxmlformats.org/drawingml/2006/main" noGrp="1"/>
          </p:cNvSpPr>
          <p:nvPr/>
        </p:nvSpPr>
        <p:spPr>
          <a:xfrm xmlns:a="http://schemas.openxmlformats.org/drawingml/2006/main">
            <a:off x="704850" y="1314450"/>
            <a:ext cx="1076325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75" b="0">
                <a:solidFill>
                  <a:srgbClr val="66716B"/>
                </a:solidFill>
                <a:latin typeface="Arial"/>
                <a:ea typeface="Arial"/>
                <a:cs typeface="Arial"/>
              </a:defRPr>
            </a:pPr>
            <a:r>
              <a:t>المشكلة ليست نقص المعلومات؛ بل انفصالها عن قرار البيع اليومي.</a:t>
            </a:r>
          </a:p>
        </p:txBody>
      </p:sp>
      <p:cxnSp>
        <p:nvCxnSpPr>
          <p:cNvPr id="21" name=""/>
          <p:cNvCxnSpPr/>
          <p:nvPr/>
        </p:nvCxnSpPr>
        <p:spPr>
          <a:xfrm xmlns:a="http://schemas.openxmlformats.org/drawingml/2006/main">
            <a:off x="704850" y="6343650"/>
            <a:ext cx="10763250" cy="95"/>
          </a:xfrm>
          <a:prstGeom xmlns:a="http://schemas.openxmlformats.org/drawingml/2006/main" prst="straightConnector1">
            <a:avLst/>
          </a:prstGeom>
          <a:ln xmlns:a="http://schemas.openxmlformats.org/drawingml/2006/main" w="9525">
            <a:solidFill>
              <a:srgbClr val="D7DDD9"/>
            </a:solidFill>
            <a:prstDash val="solid"/>
          </a:ln>
        </p:spPr>
      </p:cxnSp>
      <p:sp>
        <p:nvSpPr>
          <p:cNvPr id="6" name="">
            <a:extLst xmlns:a="http://schemas.openxmlformats.org/drawingml/2006/main">
              <a:ext uri="{FF2B5EF4-FFF2-40B4-BE49-F238E27FC236}">
                <a16:creationId xmlns:a16="http://schemas.microsoft.com/office/drawing/2014/main" id="{7031C6CA-6BF9-4D9D-9D28-16D2036C491F}"/>
              </a:ext>
            </a:extLst>
          </p:cNvPr>
          <p:cNvSpPr>
            <a:spLocks xmlns:a="http://schemas.openxmlformats.org/drawingml/2006/main" noGrp="1"/>
          </p:cNvSpPr>
          <p:nvPr/>
        </p:nvSpPr>
        <p:spPr>
          <a:xfrm xmlns:a="http://schemas.openxmlformats.org/drawingml/2006/main">
            <a:off x="704850" y="6457950"/>
            <a:ext cx="571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6B"/>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A9D0FA4E-597E-4F36-A91A-209696879047}"/>
              </a:ext>
            </a:extLst>
          </p:cNvPr>
          <p:cNvSpPr>
            <a:spLocks xmlns:a="http://schemas.openxmlformats.org/drawingml/2006/main" noGrp="1"/>
          </p:cNvSpPr>
          <p:nvPr/>
        </p:nvSpPr>
        <p:spPr>
          <a:xfrm xmlns:a="http://schemas.openxmlformats.org/drawingml/2006/main">
            <a:off x="9315450" y="6457950"/>
            <a:ext cx="21526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66716B"/>
                </a:solidFill>
                <a:latin typeface="Arial"/>
                <a:ea typeface="Arial"/>
                <a:cs typeface="Arial"/>
              </a:defRPr>
            </a:pPr>
            <a:r>
              <a:t>نبري · المرحلة الأولى</a:t>
            </a:r>
          </a:p>
        </p:txBody>
      </p:sp>
      <p:sp>
        <p:nvSpPr>
          <p:cNvPr id="8" name="">
            <a:extLst xmlns:a="http://schemas.openxmlformats.org/drawingml/2006/main">
              <a:ext uri="{FF2B5EF4-FFF2-40B4-BE49-F238E27FC236}">
                <a16:creationId xmlns:a16="http://schemas.microsoft.com/office/drawing/2014/main" id="{B5ABD67C-BE61-4FA1-AB95-167A1F921F27}"/>
              </a:ext>
            </a:extLst>
          </p:cNvPr>
          <p:cNvSpPr>
            <a:spLocks xmlns:a="http://schemas.openxmlformats.org/drawingml/2006/main" noGrp="1"/>
          </p:cNvSpPr>
          <p:nvPr/>
        </p:nvSpPr>
        <p:spPr>
          <a:xfrm xmlns:a="http://schemas.openxmlformats.org/drawingml/2006/main">
            <a:off x="704850" y="2171700"/>
            <a:ext cx="4876800" cy="3257550"/>
          </a:xfrm>
          <a:prstGeom xmlns:a="http://schemas.openxmlformats.org/drawingml/2006/main" prst="roundRect">
            <a:avLst>
              <a:gd name="adj" fmla="val 2339"/>
            </a:avLst>
          </a:prstGeom>
          <a:solidFill xmlns:a="http://schemas.openxmlformats.org/drawingml/2006/main">
            <a:srgbClr val="FFFFFF"/>
          </a:solidFill>
          <a:ln xmlns:a="http://schemas.openxmlformats.org/drawingml/2006/main" w="9525">
            <a:solidFill>
              <a:srgbClr val="D7DDD9"/>
            </a:solidFill>
            <a:prstDash val="solid"/>
          </a:ln>
        </p:spPr>
      </p:sp>
      <p:sp>
        <p:nvSpPr>
          <p:cNvPr id="9" name="">
            <a:extLst xmlns:a="http://schemas.openxmlformats.org/drawingml/2006/main">
              <a:ext uri="{FF2B5EF4-FFF2-40B4-BE49-F238E27FC236}">
                <a16:creationId xmlns:a16="http://schemas.microsoft.com/office/drawing/2014/main" id="{F951822A-B53A-4C11-BE41-6DCAF0535D4F}"/>
              </a:ext>
            </a:extLst>
          </p:cNvPr>
          <p:cNvSpPr>
            <a:spLocks xmlns:a="http://schemas.openxmlformats.org/drawingml/2006/main" noGrp="1"/>
          </p:cNvSpPr>
          <p:nvPr/>
        </p:nvSpPr>
        <p:spPr>
          <a:xfrm xmlns:a="http://schemas.openxmlformats.org/drawingml/2006/main">
            <a:off x="4629150" y="2419350"/>
            <a:ext cx="66675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A14D45"/>
                </a:solidFill>
                <a:latin typeface="Arial"/>
                <a:ea typeface="Arial"/>
                <a:cs typeface="Arial"/>
              </a:defRPr>
            </a:pPr>
            <a:r>
              <a:t>قبل</a:t>
            </a:r>
          </a:p>
        </p:txBody>
      </p:sp>
      <p:sp>
        <p:nvSpPr>
          <p:cNvPr id="10" name="">
            <a:extLst xmlns:a="http://schemas.openxmlformats.org/drawingml/2006/main">
              <a:ext uri="{FF2B5EF4-FFF2-40B4-BE49-F238E27FC236}">
                <a16:creationId xmlns:a16="http://schemas.microsoft.com/office/drawing/2014/main" id="{FB4EDA5E-F193-417B-8224-F97BDFAB5F8D}"/>
              </a:ext>
            </a:extLst>
          </p:cNvPr>
          <p:cNvSpPr>
            <a:spLocks xmlns:a="http://schemas.openxmlformats.org/drawingml/2006/main" noGrp="1"/>
          </p:cNvSpPr>
          <p:nvPr/>
        </p:nvSpPr>
        <p:spPr>
          <a:xfrm xmlns:a="http://schemas.openxmlformats.org/drawingml/2006/main">
            <a:off x="1104900" y="2781300"/>
            <a:ext cx="3790950" cy="933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850" b="1">
                <a:solidFill>
                  <a:srgbClr val="14231C"/>
                </a:solidFill>
                <a:latin typeface="Arial"/>
                <a:ea typeface="Arial"/>
                <a:cs typeface="Arial"/>
              </a:defRPr>
            </a:pPr>
            <a:r>
              <a:t>ملفات وحسابات
متفرقة</a:t>
            </a:r>
          </a:p>
        </p:txBody>
      </p:sp>
      <p:sp>
        <p:nvSpPr>
          <p:cNvPr id="11" name="">
            <a:extLst xmlns:a="http://schemas.openxmlformats.org/drawingml/2006/main">
              <a:ext uri="{FF2B5EF4-FFF2-40B4-BE49-F238E27FC236}">
                <a16:creationId xmlns:a16="http://schemas.microsoft.com/office/drawing/2014/main" id="{ED7D3BBE-57FB-48FE-93E9-D351ED0B4C3C}"/>
              </a:ext>
            </a:extLst>
          </p:cNvPr>
          <p:cNvSpPr>
            <a:spLocks xmlns:a="http://schemas.openxmlformats.org/drawingml/2006/main" noGrp="1"/>
          </p:cNvSpPr>
          <p:nvPr/>
        </p:nvSpPr>
        <p:spPr>
          <a:xfrm xmlns:a="http://schemas.openxmlformats.org/drawingml/2006/main">
            <a:off x="1104900" y="4000500"/>
            <a:ext cx="3790950" cy="1104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75" b="0">
                <a:solidFill>
                  <a:srgbClr val="66716B"/>
                </a:solidFill>
                <a:latin typeface="Arial"/>
                <a:ea typeface="Arial"/>
                <a:cs typeface="Arial"/>
              </a:defRPr>
            </a:pPr>
            <a:r>
              <a:t>• السعر قد يختلف بين الطلب والتسجيل
• حالة الطلب لا تظهر للجميع
• التحصيل منفصل عن تاريخ العميل</a:t>
            </a:r>
          </a:p>
        </p:txBody>
      </p:sp>
      <p:sp>
        <p:nvSpPr>
          <p:cNvPr id="12" name="">
            <a:extLst xmlns:a="http://schemas.openxmlformats.org/drawingml/2006/main">
              <a:ext uri="{FF2B5EF4-FFF2-40B4-BE49-F238E27FC236}">
                <a16:creationId xmlns:a16="http://schemas.microsoft.com/office/drawing/2014/main" id="{2EC0692D-C6F9-4352-8AB0-A0B783AB1C81}"/>
              </a:ext>
            </a:extLst>
          </p:cNvPr>
          <p:cNvSpPr>
            <a:spLocks xmlns:a="http://schemas.openxmlformats.org/drawingml/2006/main" noGrp="1"/>
          </p:cNvSpPr>
          <p:nvPr/>
        </p:nvSpPr>
        <p:spPr>
          <a:xfrm xmlns:a="http://schemas.openxmlformats.org/drawingml/2006/main">
            <a:off x="5905500" y="2171700"/>
            <a:ext cx="5562600" cy="3257550"/>
          </a:xfrm>
          <a:prstGeom xmlns:a="http://schemas.openxmlformats.org/drawingml/2006/main" prst="roundRect">
            <a:avLst>
              <a:gd name="adj" fmla="val 2339"/>
            </a:avLst>
          </a:prstGeom>
          <a:solidFill xmlns:a="http://schemas.openxmlformats.org/drawingml/2006/main">
            <a:srgbClr val="123C2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4E1215B-57D6-4F6B-B57C-4F4338FCFB37}"/>
              </a:ext>
            </a:extLst>
          </p:cNvPr>
          <p:cNvSpPr>
            <a:spLocks xmlns:a="http://schemas.openxmlformats.org/drawingml/2006/main" noGrp="1"/>
          </p:cNvSpPr>
          <p:nvPr/>
        </p:nvSpPr>
        <p:spPr>
          <a:xfrm xmlns:a="http://schemas.openxmlformats.org/drawingml/2006/main">
            <a:off x="10363200" y="2419350"/>
            <a:ext cx="8001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D9EF9F"/>
                </a:solidFill>
                <a:latin typeface="Arial"/>
                <a:ea typeface="Arial"/>
                <a:cs typeface="Arial"/>
              </a:defRPr>
            </a:pPr>
            <a:r>
              <a:t>الآن</a:t>
            </a:r>
          </a:p>
        </p:txBody>
      </p:sp>
      <p:sp>
        <p:nvSpPr>
          <p:cNvPr id="14" name="">
            <a:extLst xmlns:a="http://schemas.openxmlformats.org/drawingml/2006/main">
              <a:ext uri="{FF2B5EF4-FFF2-40B4-BE49-F238E27FC236}">
                <a16:creationId xmlns:a16="http://schemas.microsoft.com/office/drawing/2014/main" id="{83C50FCC-60A3-4D7F-994C-B64BBBDA6101}"/>
              </a:ext>
            </a:extLst>
          </p:cNvPr>
          <p:cNvSpPr>
            <a:spLocks xmlns:a="http://schemas.openxmlformats.org/drawingml/2006/main" noGrp="1"/>
          </p:cNvSpPr>
          <p:nvPr/>
        </p:nvSpPr>
        <p:spPr>
          <a:xfrm xmlns:a="http://schemas.openxmlformats.org/drawingml/2006/main">
            <a:off x="6343650" y="2781300"/>
            <a:ext cx="4419600" cy="933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850" b="1">
                <a:solidFill>
                  <a:srgbClr val="FFFFFF"/>
                </a:solidFill>
                <a:latin typeface="Arial"/>
                <a:ea typeface="Arial"/>
                <a:cs typeface="Arial"/>
              </a:defRPr>
            </a:pPr>
            <a:r>
              <a:t>دورة بيع
واحدة ومشتركة</a:t>
            </a:r>
          </a:p>
        </p:txBody>
      </p:sp>
      <p:sp>
        <p:nvSpPr>
          <p:cNvPr id="15" name="">
            <a:extLst xmlns:a="http://schemas.openxmlformats.org/drawingml/2006/main">
              <a:ext uri="{FF2B5EF4-FFF2-40B4-BE49-F238E27FC236}">
                <a16:creationId xmlns:a16="http://schemas.microsoft.com/office/drawing/2014/main" id="{1E892139-AF81-4517-8EBC-097A1A470B6C}"/>
              </a:ext>
            </a:extLst>
          </p:cNvPr>
          <p:cNvSpPr>
            <a:spLocks xmlns:a="http://schemas.openxmlformats.org/drawingml/2006/main" noGrp="1"/>
          </p:cNvSpPr>
          <p:nvPr/>
        </p:nvSpPr>
        <p:spPr>
          <a:xfrm xmlns:a="http://schemas.openxmlformats.org/drawingml/2006/main">
            <a:off x="6343650" y="4048125"/>
            <a:ext cx="44196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725" b="1">
                <a:solidFill>
                  <a:srgbClr val="D9EF9F"/>
                </a:solidFill>
                <a:latin typeface="Arial"/>
                <a:ea typeface="Arial"/>
                <a:cs typeface="Arial"/>
              </a:defRPr>
            </a:pPr>
            <a:r>
              <a:t>العميل ← الطلب ← الإدارة ← المندوب ← التحصيل</a:t>
            </a:r>
          </a:p>
        </p:txBody>
      </p:sp>
      <p:sp>
        <p:nvSpPr>
          <p:cNvPr id="16" name="">
            <a:extLst xmlns:a="http://schemas.openxmlformats.org/drawingml/2006/main">
              <a:ext uri="{FF2B5EF4-FFF2-40B4-BE49-F238E27FC236}">
                <a16:creationId xmlns:a16="http://schemas.microsoft.com/office/drawing/2014/main" id="{0A5D6DE6-6B84-41DE-9CA1-D81F26368671}"/>
              </a:ext>
            </a:extLst>
          </p:cNvPr>
          <p:cNvSpPr>
            <a:spLocks xmlns:a="http://schemas.openxmlformats.org/drawingml/2006/main" noGrp="1"/>
          </p:cNvSpPr>
          <p:nvPr/>
        </p:nvSpPr>
        <p:spPr>
          <a:xfrm xmlns:a="http://schemas.openxmlformats.org/drawingml/2006/main">
            <a:off x="6343650" y="4629150"/>
            <a:ext cx="441960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75" b="0">
                <a:solidFill>
                  <a:srgbClr val="EEF7D7"/>
                </a:solidFill>
                <a:latin typeface="Arial"/>
                <a:ea typeface="Arial"/>
                <a:cs typeface="Arial"/>
              </a:defRPr>
            </a:pPr>
            <a:r>
              <a:t>كل دور يرى ما يحتاجه فقط، من نفس البيانات.</a:t>
            </a:r>
          </a:p>
        </p:txBody>
      </p:sp>
    </p:spTree>
    <p:extLst>
      <p:ext uri="{BB962C8B-B14F-4D97-AF65-F5344CB8AC3E}">
        <p14:creationId xmlns:p14="http://schemas.microsoft.com/office/powerpoint/2010/main" val="1844453944"/>
      </p:ext>
    </p:extLst>
  </p:cSld>
</p:sld>
</file>

<file path=ppt/slides/slide3.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8EA745F-A03E-40AD-8AC9-CC97F8779E9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D9EF9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E9008CA-382A-4AED-BDBB-6902620FE609}"/>
              </a:ext>
            </a:extLst>
          </p:cNvPr>
          <p:cNvSpPr>
            <a:spLocks xmlns:a="http://schemas.openxmlformats.org/drawingml/2006/main" noGrp="1"/>
          </p:cNvSpPr>
          <p:nvPr/>
        </p:nvSpPr>
        <p:spPr>
          <a:xfrm xmlns:a="http://schemas.openxmlformats.org/drawingml/2006/main">
            <a:off x="8515350" y="323850"/>
            <a:ext cx="29527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D5A43"/>
                </a:solidFill>
                <a:latin typeface="Arial"/>
                <a:ea typeface="Arial"/>
                <a:cs typeface="Arial"/>
              </a:defRPr>
            </a:pPr>
            <a:r>
              <a:t>ما يعمل اليوم</a:t>
            </a:r>
          </a:p>
        </p:txBody>
      </p:sp>
      <p:sp>
        <p:nvSpPr>
          <p:cNvPr id="3" name="">
            <a:extLst xmlns:a="http://schemas.openxmlformats.org/drawingml/2006/main">
              <a:ext uri="{FF2B5EF4-FFF2-40B4-BE49-F238E27FC236}">
                <a16:creationId xmlns:a16="http://schemas.microsoft.com/office/drawing/2014/main" id="{F3E8B49E-C66D-459A-A7A5-10EF21454998}"/>
              </a:ext>
            </a:extLst>
          </p:cNvPr>
          <p:cNvSpPr>
            <a:spLocks xmlns:a="http://schemas.openxmlformats.org/drawingml/2006/main" noGrp="1"/>
          </p:cNvSpPr>
          <p:nvPr/>
        </p:nvSpPr>
        <p:spPr>
          <a:xfrm xmlns:a="http://schemas.openxmlformats.org/drawingml/2006/main">
            <a:off x="704850" y="628650"/>
            <a:ext cx="1076325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3300" b="1">
                <a:solidFill>
                  <a:srgbClr val="14231C"/>
                </a:solidFill>
                <a:latin typeface="Arial"/>
                <a:ea typeface="Arial"/>
                <a:cs typeface="Arial"/>
              </a:defRPr>
            </a:pPr>
            <a:r>
              <a:t>ثلاث واجهات — مصدر بيانات واحد</a:t>
            </a:r>
          </a:p>
        </p:txBody>
      </p:sp>
      <p:sp>
        <p:nvSpPr>
          <p:cNvPr id="4" name="">
            <a:extLst xmlns:a="http://schemas.openxmlformats.org/drawingml/2006/main">
              <a:ext uri="{FF2B5EF4-FFF2-40B4-BE49-F238E27FC236}">
                <a16:creationId xmlns:a16="http://schemas.microsoft.com/office/drawing/2014/main" id="{44AC828C-FCF5-43E6-89B5-C70FE8BFEC64}"/>
              </a:ext>
            </a:extLst>
          </p:cNvPr>
          <p:cNvSpPr>
            <a:spLocks xmlns:a="http://schemas.openxmlformats.org/drawingml/2006/main" noGrp="1"/>
          </p:cNvSpPr>
          <p:nvPr/>
        </p:nvSpPr>
        <p:spPr>
          <a:xfrm xmlns:a="http://schemas.openxmlformats.org/drawingml/2006/main">
            <a:off x="704850" y="1314450"/>
            <a:ext cx="1076325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75" b="0">
                <a:solidFill>
                  <a:srgbClr val="66716B"/>
                </a:solidFill>
                <a:latin typeface="Arial"/>
                <a:ea typeface="Arial"/>
                <a:cs typeface="Arial"/>
              </a:defRPr>
            </a:pPr>
            <a:r>
              <a:t>كل واجهة بمهام يومها، بينما الطلبات والأسعار والتحصيلات مترابطة في الخلفية.</a:t>
            </a:r>
          </a:p>
        </p:txBody>
      </p:sp>
      <p:cxnSp>
        <p:nvCxnSpPr>
          <p:cNvPr id="27" name=""/>
          <p:cNvCxnSpPr/>
          <p:nvPr/>
        </p:nvCxnSpPr>
        <p:spPr>
          <a:xfrm xmlns:a="http://schemas.openxmlformats.org/drawingml/2006/main">
            <a:off x="704850" y="6343650"/>
            <a:ext cx="10763250" cy="95"/>
          </a:xfrm>
          <a:prstGeom xmlns:a="http://schemas.openxmlformats.org/drawingml/2006/main" prst="straightConnector1">
            <a:avLst/>
          </a:prstGeom>
          <a:ln xmlns:a="http://schemas.openxmlformats.org/drawingml/2006/main" w="9525">
            <a:solidFill>
              <a:srgbClr val="D7DDD9"/>
            </a:solidFill>
            <a:prstDash val="solid"/>
          </a:ln>
        </p:spPr>
      </p:cxnSp>
      <p:sp>
        <p:nvSpPr>
          <p:cNvPr id="6" name="">
            <a:extLst xmlns:a="http://schemas.openxmlformats.org/drawingml/2006/main">
              <a:ext uri="{FF2B5EF4-FFF2-40B4-BE49-F238E27FC236}">
                <a16:creationId xmlns:a16="http://schemas.microsoft.com/office/drawing/2014/main" id="{E731BC9D-1E08-434E-B89A-08700C4238CE}"/>
              </a:ext>
            </a:extLst>
          </p:cNvPr>
          <p:cNvSpPr>
            <a:spLocks xmlns:a="http://schemas.openxmlformats.org/drawingml/2006/main" noGrp="1"/>
          </p:cNvSpPr>
          <p:nvPr/>
        </p:nvSpPr>
        <p:spPr>
          <a:xfrm xmlns:a="http://schemas.openxmlformats.org/drawingml/2006/main">
            <a:off x="704850" y="6457950"/>
            <a:ext cx="571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6B"/>
                </a:solidFill>
                <a:latin typeface="Arial"/>
                <a:ea typeface="Arial"/>
                <a:cs typeface="Arial"/>
              </a:defRPr>
            </a:pPr>
            <a:r>
              <a:t>03</a:t>
            </a:r>
          </a:p>
        </p:txBody>
      </p:sp>
      <p:sp>
        <p:nvSpPr>
          <p:cNvPr id="7" name="">
            <a:extLst xmlns:a="http://schemas.openxmlformats.org/drawingml/2006/main">
              <a:ext uri="{FF2B5EF4-FFF2-40B4-BE49-F238E27FC236}">
                <a16:creationId xmlns:a16="http://schemas.microsoft.com/office/drawing/2014/main" id="{EA3EEFB9-8739-4499-9F8E-9B41FC739615}"/>
              </a:ext>
            </a:extLst>
          </p:cNvPr>
          <p:cNvSpPr>
            <a:spLocks xmlns:a="http://schemas.openxmlformats.org/drawingml/2006/main" noGrp="1"/>
          </p:cNvSpPr>
          <p:nvPr/>
        </p:nvSpPr>
        <p:spPr>
          <a:xfrm xmlns:a="http://schemas.openxmlformats.org/drawingml/2006/main">
            <a:off x="9315450" y="6457950"/>
            <a:ext cx="21526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66716B"/>
                </a:solidFill>
                <a:latin typeface="Arial"/>
                <a:ea typeface="Arial"/>
                <a:cs typeface="Arial"/>
              </a:defRPr>
            </a:pPr>
            <a:r>
              <a:t>نبري · المرحلة الأولى</a:t>
            </a:r>
          </a:p>
        </p:txBody>
      </p:sp>
      <p:sp>
        <p:nvSpPr>
          <p:cNvPr id="8" name="">
            <a:extLst xmlns:a="http://schemas.openxmlformats.org/drawingml/2006/main">
              <a:ext uri="{FF2B5EF4-FFF2-40B4-BE49-F238E27FC236}">
                <a16:creationId xmlns:a16="http://schemas.microsoft.com/office/drawing/2014/main" id="{2815EF6D-7BB9-4FE3-B5E8-C7D91D3CB896}"/>
              </a:ext>
            </a:extLst>
          </p:cNvPr>
          <p:cNvSpPr>
            <a:spLocks xmlns:a="http://schemas.openxmlformats.org/drawingml/2006/main" noGrp="1"/>
          </p:cNvSpPr>
          <p:nvPr/>
        </p:nvSpPr>
        <p:spPr>
          <a:xfrm xmlns:a="http://schemas.openxmlformats.org/drawingml/2006/main">
            <a:off x="704850" y="2286000"/>
            <a:ext cx="3314700" cy="3086100"/>
          </a:xfrm>
          <a:prstGeom xmlns:a="http://schemas.openxmlformats.org/drawingml/2006/main" prst="roundRect">
            <a:avLst>
              <a:gd name="adj" fmla="val 2469"/>
            </a:avLst>
          </a:prstGeom>
          <a:solidFill xmlns:a="http://schemas.openxmlformats.org/drawingml/2006/main">
            <a:srgbClr val="123C2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0920887-0CEB-41B1-82EA-EE2C432B5064}"/>
              </a:ext>
            </a:extLst>
          </p:cNvPr>
          <p:cNvSpPr>
            <a:spLocks xmlns:a="http://schemas.openxmlformats.org/drawingml/2006/main" noGrp="1"/>
          </p:cNvSpPr>
          <p:nvPr/>
        </p:nvSpPr>
        <p:spPr>
          <a:xfrm xmlns:a="http://schemas.openxmlformats.org/drawingml/2006/main">
            <a:off x="990600" y="2571750"/>
            <a:ext cx="628650" cy="628650"/>
          </a:xfrm>
          <a:prstGeom xmlns:a="http://schemas.openxmlformats.org/drawingml/2006/main" prst="ellipse">
            <a:avLst/>
          </a:prstGeom>
          <a:solidFill xmlns:a="http://schemas.openxmlformats.org/drawingml/2006/main">
            <a:srgbClr val="D9EF9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55819D8-3BA2-4B8A-8AC1-48F608E100F4}"/>
              </a:ext>
            </a:extLst>
          </p:cNvPr>
          <p:cNvSpPr>
            <a:spLocks xmlns:a="http://schemas.openxmlformats.org/drawingml/2006/main" noGrp="1"/>
          </p:cNvSpPr>
          <p:nvPr/>
        </p:nvSpPr>
        <p:spPr>
          <a:xfrm xmlns:a="http://schemas.openxmlformats.org/drawingml/2006/main">
            <a:off x="990600" y="2733675"/>
            <a:ext cx="6286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123C2D"/>
                </a:solidFill>
                <a:latin typeface="Arial"/>
                <a:ea typeface="Arial"/>
                <a:cs typeface="Arial"/>
              </a:defRPr>
            </a:pPr>
            <a:r>
              <a:t>01</a:t>
            </a:r>
          </a:p>
        </p:txBody>
      </p:sp>
      <p:sp>
        <p:nvSpPr>
          <p:cNvPr id="11" name="">
            <a:extLst xmlns:a="http://schemas.openxmlformats.org/drawingml/2006/main">
              <a:ext uri="{FF2B5EF4-FFF2-40B4-BE49-F238E27FC236}">
                <a16:creationId xmlns:a16="http://schemas.microsoft.com/office/drawing/2014/main" id="{DC97B89C-323B-4A48-9639-1FAC1A474264}"/>
              </a:ext>
            </a:extLst>
          </p:cNvPr>
          <p:cNvSpPr>
            <a:spLocks xmlns:a="http://schemas.openxmlformats.org/drawingml/2006/main" noGrp="1"/>
          </p:cNvSpPr>
          <p:nvPr/>
        </p:nvSpPr>
        <p:spPr>
          <a:xfrm xmlns:a="http://schemas.openxmlformats.org/drawingml/2006/main">
            <a:off x="1009650" y="3429000"/>
            <a:ext cx="272415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550" b="1">
                <a:solidFill>
                  <a:srgbClr val="FFFFFF"/>
                </a:solidFill>
                <a:latin typeface="Arial"/>
                <a:ea typeface="Arial"/>
                <a:cs typeface="Arial"/>
              </a:defRPr>
            </a:pPr>
            <a:r>
              <a:t>الإدارة</a:t>
            </a:r>
          </a:p>
        </p:txBody>
      </p:sp>
      <p:sp>
        <p:nvSpPr>
          <p:cNvPr id="12" name="">
            <a:extLst xmlns:a="http://schemas.openxmlformats.org/drawingml/2006/main">
              <a:ext uri="{FF2B5EF4-FFF2-40B4-BE49-F238E27FC236}">
                <a16:creationId xmlns:a16="http://schemas.microsoft.com/office/drawing/2014/main" id="{582E98E0-E8EF-47E2-8E5F-7847F9E78E57}"/>
              </a:ext>
            </a:extLst>
          </p:cNvPr>
          <p:cNvSpPr>
            <a:spLocks xmlns:a="http://schemas.openxmlformats.org/drawingml/2006/main" noGrp="1"/>
          </p:cNvSpPr>
          <p:nvPr/>
        </p:nvSpPr>
        <p:spPr>
          <a:xfrm xmlns:a="http://schemas.openxmlformats.org/drawingml/2006/main">
            <a:off x="1009650" y="4000500"/>
            <a:ext cx="2724150" cy="1123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0">
                <a:solidFill>
                  <a:srgbClr val="EEF7D7"/>
                </a:solidFill>
                <a:latin typeface="Arial"/>
                <a:ea typeface="Arial"/>
                <a:cs typeface="Arial"/>
              </a:defRPr>
            </a:pPr>
            <a:r>
              <a:t>لوحة المبيعات
العملاء والطلبات
قائمة الأسعار والمخزون
التحصيل وهيكل الشركة</a:t>
            </a:r>
          </a:p>
        </p:txBody>
      </p:sp>
      <p:sp>
        <p:nvSpPr>
          <p:cNvPr id="13" name="">
            <a:extLst xmlns:a="http://schemas.openxmlformats.org/drawingml/2006/main">
              <a:ext uri="{FF2B5EF4-FFF2-40B4-BE49-F238E27FC236}">
                <a16:creationId xmlns:a16="http://schemas.microsoft.com/office/drawing/2014/main" id="{0F9B3C38-BB22-4E48-9A49-3CE241D913F4}"/>
              </a:ext>
            </a:extLst>
          </p:cNvPr>
          <p:cNvSpPr>
            <a:spLocks xmlns:a="http://schemas.openxmlformats.org/drawingml/2006/main" noGrp="1"/>
          </p:cNvSpPr>
          <p:nvPr/>
        </p:nvSpPr>
        <p:spPr>
          <a:xfrm xmlns:a="http://schemas.openxmlformats.org/drawingml/2006/main">
            <a:off x="4438650" y="2286000"/>
            <a:ext cx="3314700" cy="3086100"/>
          </a:xfrm>
          <a:prstGeom xmlns:a="http://schemas.openxmlformats.org/drawingml/2006/main" prst="roundRect">
            <a:avLst>
              <a:gd name="adj" fmla="val 2469"/>
            </a:avLst>
          </a:prstGeom>
          <a:solidFill xmlns:a="http://schemas.openxmlformats.org/drawingml/2006/main">
            <a:srgbClr val="FFFFFF"/>
          </a:solidFill>
          <a:ln xmlns:a="http://schemas.openxmlformats.org/drawingml/2006/main" w="9525">
            <a:solidFill>
              <a:srgbClr val="D7DDD9"/>
            </a:solidFill>
            <a:prstDash val="solid"/>
          </a:ln>
        </p:spPr>
      </p:sp>
      <p:sp>
        <p:nvSpPr>
          <p:cNvPr id="14" name="">
            <a:extLst xmlns:a="http://schemas.openxmlformats.org/drawingml/2006/main">
              <a:ext uri="{FF2B5EF4-FFF2-40B4-BE49-F238E27FC236}">
                <a16:creationId xmlns:a16="http://schemas.microsoft.com/office/drawing/2014/main" id="{1C7135A9-06E8-403D-BBBE-B8E04B7D69C8}"/>
              </a:ext>
            </a:extLst>
          </p:cNvPr>
          <p:cNvSpPr>
            <a:spLocks xmlns:a="http://schemas.openxmlformats.org/drawingml/2006/main" noGrp="1"/>
          </p:cNvSpPr>
          <p:nvPr/>
        </p:nvSpPr>
        <p:spPr>
          <a:xfrm xmlns:a="http://schemas.openxmlformats.org/drawingml/2006/main">
            <a:off x="4724400" y="2571750"/>
            <a:ext cx="628650" cy="628650"/>
          </a:xfrm>
          <a:prstGeom xmlns:a="http://schemas.openxmlformats.org/drawingml/2006/main" prst="ellipse">
            <a:avLst/>
          </a:prstGeom>
          <a:solidFill xmlns:a="http://schemas.openxmlformats.org/drawingml/2006/main">
            <a:srgbClr val="123C2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DFDDE30-AA04-4FB2-A2E0-756D7E3BEB6F}"/>
              </a:ext>
            </a:extLst>
          </p:cNvPr>
          <p:cNvSpPr>
            <a:spLocks xmlns:a="http://schemas.openxmlformats.org/drawingml/2006/main" noGrp="1"/>
          </p:cNvSpPr>
          <p:nvPr/>
        </p:nvSpPr>
        <p:spPr>
          <a:xfrm xmlns:a="http://schemas.openxmlformats.org/drawingml/2006/main">
            <a:off x="4724400" y="2733675"/>
            <a:ext cx="6286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D9EF9F"/>
                </a:solidFill>
                <a:latin typeface="Arial"/>
                <a:ea typeface="Arial"/>
                <a:cs typeface="Arial"/>
              </a:defRPr>
            </a:pPr>
            <a:r>
              <a:t>02</a:t>
            </a:r>
          </a:p>
        </p:txBody>
      </p:sp>
      <p:sp>
        <p:nvSpPr>
          <p:cNvPr id="16" name="">
            <a:extLst xmlns:a="http://schemas.openxmlformats.org/drawingml/2006/main">
              <a:ext uri="{FF2B5EF4-FFF2-40B4-BE49-F238E27FC236}">
                <a16:creationId xmlns:a16="http://schemas.microsoft.com/office/drawing/2014/main" id="{7E2D6605-11FF-429A-A13E-8509A51426A4}"/>
              </a:ext>
            </a:extLst>
          </p:cNvPr>
          <p:cNvSpPr>
            <a:spLocks xmlns:a="http://schemas.openxmlformats.org/drawingml/2006/main" noGrp="1"/>
          </p:cNvSpPr>
          <p:nvPr/>
        </p:nvSpPr>
        <p:spPr>
          <a:xfrm xmlns:a="http://schemas.openxmlformats.org/drawingml/2006/main">
            <a:off x="4743450" y="3429000"/>
            <a:ext cx="272415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325" b="1">
                <a:solidFill>
                  <a:srgbClr val="14231C"/>
                </a:solidFill>
                <a:latin typeface="Arial"/>
                <a:ea typeface="Arial"/>
                <a:cs typeface="Arial"/>
              </a:defRPr>
            </a:pPr>
            <a:r>
              <a:t>المندوب / الموظف</a:t>
            </a:r>
          </a:p>
        </p:txBody>
      </p:sp>
      <p:sp>
        <p:nvSpPr>
          <p:cNvPr id="17" name="">
            <a:extLst xmlns:a="http://schemas.openxmlformats.org/drawingml/2006/main">
              <a:ext uri="{FF2B5EF4-FFF2-40B4-BE49-F238E27FC236}">
                <a16:creationId xmlns:a16="http://schemas.microsoft.com/office/drawing/2014/main" id="{15BDC604-CA6D-49C3-92D7-50075C007E41}"/>
              </a:ext>
            </a:extLst>
          </p:cNvPr>
          <p:cNvSpPr>
            <a:spLocks xmlns:a="http://schemas.openxmlformats.org/drawingml/2006/main" noGrp="1"/>
          </p:cNvSpPr>
          <p:nvPr/>
        </p:nvSpPr>
        <p:spPr>
          <a:xfrm xmlns:a="http://schemas.openxmlformats.org/drawingml/2006/main">
            <a:off x="4743450" y="4000500"/>
            <a:ext cx="2724150" cy="1123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0">
                <a:solidFill>
                  <a:srgbClr val="66716B"/>
                </a:solidFill>
                <a:latin typeface="Arial"/>
                <a:ea typeface="Arial"/>
                <a:cs typeface="Arial"/>
              </a:defRPr>
            </a:pPr>
            <a:r>
              <a:t>مسار الزيارات
أولوية العملاء
طلبات وتحصيلات
تحديث حالة التنفيذ</a:t>
            </a:r>
          </a:p>
        </p:txBody>
      </p:sp>
      <p:sp>
        <p:nvSpPr>
          <p:cNvPr id="18" name="">
            <a:extLst xmlns:a="http://schemas.openxmlformats.org/drawingml/2006/main">
              <a:ext uri="{FF2B5EF4-FFF2-40B4-BE49-F238E27FC236}">
                <a16:creationId xmlns:a16="http://schemas.microsoft.com/office/drawing/2014/main" id="{7B3486FE-8989-4817-BEEC-76D40BB3728A}"/>
              </a:ext>
            </a:extLst>
          </p:cNvPr>
          <p:cNvSpPr>
            <a:spLocks xmlns:a="http://schemas.openxmlformats.org/drawingml/2006/main" noGrp="1"/>
          </p:cNvSpPr>
          <p:nvPr/>
        </p:nvSpPr>
        <p:spPr>
          <a:xfrm xmlns:a="http://schemas.openxmlformats.org/drawingml/2006/main">
            <a:off x="8172450" y="2286000"/>
            <a:ext cx="3295650" cy="3086100"/>
          </a:xfrm>
          <a:prstGeom xmlns:a="http://schemas.openxmlformats.org/drawingml/2006/main" prst="roundRect">
            <a:avLst>
              <a:gd name="adj" fmla="val 2469"/>
            </a:avLst>
          </a:prstGeom>
          <a:solidFill xmlns:a="http://schemas.openxmlformats.org/drawingml/2006/main">
            <a:srgbClr val="EEF7D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C4CB901-DE14-4FEA-8732-13A8C5FEC6F9}"/>
              </a:ext>
            </a:extLst>
          </p:cNvPr>
          <p:cNvSpPr>
            <a:spLocks xmlns:a="http://schemas.openxmlformats.org/drawingml/2006/main" noGrp="1"/>
          </p:cNvSpPr>
          <p:nvPr/>
        </p:nvSpPr>
        <p:spPr>
          <a:xfrm xmlns:a="http://schemas.openxmlformats.org/drawingml/2006/main">
            <a:off x="8458200" y="2571750"/>
            <a:ext cx="628650" cy="628650"/>
          </a:xfrm>
          <a:prstGeom xmlns:a="http://schemas.openxmlformats.org/drawingml/2006/main" prst="ellipse">
            <a:avLst/>
          </a:prstGeom>
          <a:solidFill xmlns:a="http://schemas.openxmlformats.org/drawingml/2006/main">
            <a:srgbClr val="C7963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33DBCCC-37F0-42DC-9745-9D44493AD5D7}"/>
              </a:ext>
            </a:extLst>
          </p:cNvPr>
          <p:cNvSpPr>
            <a:spLocks xmlns:a="http://schemas.openxmlformats.org/drawingml/2006/main" noGrp="1"/>
          </p:cNvSpPr>
          <p:nvPr/>
        </p:nvSpPr>
        <p:spPr>
          <a:xfrm xmlns:a="http://schemas.openxmlformats.org/drawingml/2006/main">
            <a:off x="8458200" y="2733675"/>
            <a:ext cx="6286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t>03</a:t>
            </a:r>
          </a:p>
        </p:txBody>
      </p:sp>
      <p:sp>
        <p:nvSpPr>
          <p:cNvPr id="21" name="">
            <a:extLst xmlns:a="http://schemas.openxmlformats.org/drawingml/2006/main">
              <a:ext uri="{FF2B5EF4-FFF2-40B4-BE49-F238E27FC236}">
                <a16:creationId xmlns:a16="http://schemas.microsoft.com/office/drawing/2014/main" id="{DCF723EE-A99E-4380-8A77-3ED9A7A66C33}"/>
              </a:ext>
            </a:extLst>
          </p:cNvPr>
          <p:cNvSpPr>
            <a:spLocks xmlns:a="http://schemas.openxmlformats.org/drawingml/2006/main" noGrp="1"/>
          </p:cNvSpPr>
          <p:nvPr/>
        </p:nvSpPr>
        <p:spPr>
          <a:xfrm xmlns:a="http://schemas.openxmlformats.org/drawingml/2006/main">
            <a:off x="8477250" y="3429000"/>
            <a:ext cx="27051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550" b="1">
                <a:solidFill>
                  <a:srgbClr val="14231C"/>
                </a:solidFill>
                <a:latin typeface="Arial"/>
                <a:ea typeface="Arial"/>
                <a:cs typeface="Arial"/>
              </a:defRPr>
            </a:pPr>
            <a:r>
              <a:t>العميل</a:t>
            </a:r>
          </a:p>
        </p:txBody>
      </p:sp>
      <p:sp>
        <p:nvSpPr>
          <p:cNvPr id="22" name="">
            <a:extLst xmlns:a="http://schemas.openxmlformats.org/drawingml/2006/main">
              <a:ext uri="{FF2B5EF4-FFF2-40B4-BE49-F238E27FC236}">
                <a16:creationId xmlns:a16="http://schemas.microsoft.com/office/drawing/2014/main" id="{99BF4609-DD6C-45A9-B96C-29D361FF9A06}"/>
              </a:ext>
            </a:extLst>
          </p:cNvPr>
          <p:cNvSpPr>
            <a:spLocks xmlns:a="http://schemas.openxmlformats.org/drawingml/2006/main" noGrp="1"/>
          </p:cNvSpPr>
          <p:nvPr/>
        </p:nvSpPr>
        <p:spPr>
          <a:xfrm xmlns:a="http://schemas.openxmlformats.org/drawingml/2006/main">
            <a:off x="8477250" y="4000500"/>
            <a:ext cx="2705100" cy="1123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0">
                <a:solidFill>
                  <a:srgbClr val="123C2D"/>
                </a:solidFill>
                <a:latin typeface="Arial"/>
                <a:ea typeface="Arial"/>
                <a:cs typeface="Arial"/>
              </a:defRPr>
            </a:pPr>
            <a:r>
              <a:t>كتالوج المنتجات
السعر الموحد
سلة الطلب
إرسال الطلب ومتابعته</a:t>
            </a:r>
          </a:p>
        </p:txBody>
      </p:sp>
    </p:spTree>
    <p:extLst>
      <p:ext uri="{BB962C8B-B14F-4D97-AF65-F5344CB8AC3E}">
        <p14:creationId xmlns:p14="http://schemas.microsoft.com/office/powerpoint/2010/main" val="1082437739"/>
      </p:ext>
    </p:extLst>
  </p:cSld>
</p:sld>
</file>

<file path=ppt/slides/slide4.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228ADA5-D6BF-4039-B0E1-35FEB83EA68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D9EF9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C720827-8361-4D2C-B67C-BA4CB3A74366}"/>
              </a:ext>
            </a:extLst>
          </p:cNvPr>
          <p:cNvSpPr>
            <a:spLocks xmlns:a="http://schemas.openxmlformats.org/drawingml/2006/main" noGrp="1"/>
          </p:cNvSpPr>
          <p:nvPr/>
        </p:nvSpPr>
        <p:spPr>
          <a:xfrm xmlns:a="http://schemas.openxmlformats.org/drawingml/2006/main">
            <a:off x="8515350" y="323850"/>
            <a:ext cx="29527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D5A43"/>
                </a:solidFill>
                <a:latin typeface="Arial"/>
                <a:ea typeface="Arial"/>
                <a:cs typeface="Arial"/>
              </a:defRPr>
            </a:pPr>
            <a:r>
              <a:t>نقطة التحكم</a:t>
            </a:r>
          </a:p>
        </p:txBody>
      </p:sp>
      <p:sp>
        <p:nvSpPr>
          <p:cNvPr id="3" name="">
            <a:extLst xmlns:a="http://schemas.openxmlformats.org/drawingml/2006/main">
              <a:ext uri="{FF2B5EF4-FFF2-40B4-BE49-F238E27FC236}">
                <a16:creationId xmlns:a16="http://schemas.microsoft.com/office/drawing/2014/main" id="{DC7F51CF-B92E-4D7F-AB1F-E27F3A5609E8}"/>
              </a:ext>
            </a:extLst>
          </p:cNvPr>
          <p:cNvSpPr>
            <a:spLocks xmlns:a="http://schemas.openxmlformats.org/drawingml/2006/main" noGrp="1"/>
          </p:cNvSpPr>
          <p:nvPr/>
        </p:nvSpPr>
        <p:spPr>
          <a:xfrm xmlns:a="http://schemas.openxmlformats.org/drawingml/2006/main">
            <a:off x="704850" y="628650"/>
            <a:ext cx="1076325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3300" b="1">
                <a:solidFill>
                  <a:srgbClr val="14231C"/>
                </a:solidFill>
                <a:latin typeface="Arial"/>
                <a:ea typeface="Arial"/>
                <a:cs typeface="Arial"/>
              </a:defRPr>
            </a:pPr>
            <a:r>
              <a:t>قائمة الأسعار مرتبطة بالنظام كله</a:t>
            </a:r>
          </a:p>
        </p:txBody>
      </p:sp>
      <p:sp>
        <p:nvSpPr>
          <p:cNvPr id="4" name="">
            <a:extLst xmlns:a="http://schemas.openxmlformats.org/drawingml/2006/main">
              <a:ext uri="{FF2B5EF4-FFF2-40B4-BE49-F238E27FC236}">
                <a16:creationId xmlns:a16="http://schemas.microsoft.com/office/drawing/2014/main" id="{D6894952-A724-4475-B0E8-210DEF60090A}"/>
              </a:ext>
            </a:extLst>
          </p:cNvPr>
          <p:cNvSpPr>
            <a:spLocks xmlns:a="http://schemas.openxmlformats.org/drawingml/2006/main" noGrp="1"/>
          </p:cNvSpPr>
          <p:nvPr/>
        </p:nvSpPr>
        <p:spPr>
          <a:xfrm xmlns:a="http://schemas.openxmlformats.org/drawingml/2006/main">
            <a:off x="704850" y="1314450"/>
            <a:ext cx="1076325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75" b="0">
                <a:solidFill>
                  <a:srgbClr val="66716B"/>
                </a:solidFill>
                <a:latin typeface="Arial"/>
                <a:ea typeface="Arial"/>
                <a:cs typeface="Arial"/>
              </a:defRPr>
            </a:pPr>
            <a:r>
              <a:t>السعر لا يُنسخ يدويًا بين الواجهات؛ النظام يعيد التحقق منه قبل حفظ الطلب.</a:t>
            </a:r>
          </a:p>
        </p:txBody>
      </p:sp>
      <p:cxnSp>
        <p:nvCxnSpPr>
          <p:cNvPr id="32" name=""/>
          <p:cNvCxnSpPr/>
          <p:nvPr/>
        </p:nvCxnSpPr>
        <p:spPr>
          <a:xfrm xmlns:a="http://schemas.openxmlformats.org/drawingml/2006/main">
            <a:off x="704850" y="6343650"/>
            <a:ext cx="10763250" cy="95"/>
          </a:xfrm>
          <a:prstGeom xmlns:a="http://schemas.openxmlformats.org/drawingml/2006/main" prst="straightConnector1">
            <a:avLst/>
          </a:prstGeom>
          <a:ln xmlns:a="http://schemas.openxmlformats.org/drawingml/2006/main" w="9525">
            <a:solidFill>
              <a:srgbClr val="D7DDD9"/>
            </a:solidFill>
            <a:prstDash val="solid"/>
          </a:ln>
        </p:spPr>
      </p:cxnSp>
      <p:sp>
        <p:nvSpPr>
          <p:cNvPr id="6" name="">
            <a:extLst xmlns:a="http://schemas.openxmlformats.org/drawingml/2006/main">
              <a:ext uri="{FF2B5EF4-FFF2-40B4-BE49-F238E27FC236}">
                <a16:creationId xmlns:a16="http://schemas.microsoft.com/office/drawing/2014/main" id="{48DC5007-BE46-45A8-82B6-7461D2C42375}"/>
              </a:ext>
            </a:extLst>
          </p:cNvPr>
          <p:cNvSpPr>
            <a:spLocks xmlns:a="http://schemas.openxmlformats.org/drawingml/2006/main" noGrp="1"/>
          </p:cNvSpPr>
          <p:nvPr/>
        </p:nvSpPr>
        <p:spPr>
          <a:xfrm xmlns:a="http://schemas.openxmlformats.org/drawingml/2006/main">
            <a:off x="704850" y="6457950"/>
            <a:ext cx="571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6B"/>
                </a:solidFill>
                <a:latin typeface="Arial"/>
                <a:ea typeface="Arial"/>
                <a:cs typeface="Arial"/>
              </a:defRPr>
            </a:pPr>
            <a:r>
              <a:t>04</a:t>
            </a:r>
          </a:p>
        </p:txBody>
      </p:sp>
      <p:sp>
        <p:nvSpPr>
          <p:cNvPr id="7" name="">
            <a:extLst xmlns:a="http://schemas.openxmlformats.org/drawingml/2006/main">
              <a:ext uri="{FF2B5EF4-FFF2-40B4-BE49-F238E27FC236}">
                <a16:creationId xmlns:a16="http://schemas.microsoft.com/office/drawing/2014/main" id="{F86EE646-93F2-4E38-9256-1BDA6560E776}"/>
              </a:ext>
            </a:extLst>
          </p:cNvPr>
          <p:cNvSpPr>
            <a:spLocks xmlns:a="http://schemas.openxmlformats.org/drawingml/2006/main" noGrp="1"/>
          </p:cNvSpPr>
          <p:nvPr/>
        </p:nvSpPr>
        <p:spPr>
          <a:xfrm xmlns:a="http://schemas.openxmlformats.org/drawingml/2006/main">
            <a:off x="9315450" y="6457950"/>
            <a:ext cx="21526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66716B"/>
                </a:solidFill>
                <a:latin typeface="Arial"/>
                <a:ea typeface="Arial"/>
                <a:cs typeface="Arial"/>
              </a:defRPr>
            </a:pPr>
            <a:r>
              <a:t>نبري · المرحلة الأولى</a:t>
            </a:r>
          </a:p>
        </p:txBody>
      </p:sp>
      <p:sp>
        <p:nvSpPr>
          <p:cNvPr id="8" name="">
            <a:extLst xmlns:a="http://schemas.openxmlformats.org/drawingml/2006/main">
              <a:ext uri="{FF2B5EF4-FFF2-40B4-BE49-F238E27FC236}">
                <a16:creationId xmlns:a16="http://schemas.microsoft.com/office/drawing/2014/main" id="{2C2C066D-CB8B-4D73-B5CD-A05D72E62403}"/>
              </a:ext>
            </a:extLst>
          </p:cNvPr>
          <p:cNvSpPr>
            <a:spLocks xmlns:a="http://schemas.openxmlformats.org/drawingml/2006/main" noGrp="1"/>
          </p:cNvSpPr>
          <p:nvPr/>
        </p:nvSpPr>
        <p:spPr>
          <a:xfrm xmlns:a="http://schemas.openxmlformats.org/drawingml/2006/main">
            <a:off x="4648200" y="2190750"/>
            <a:ext cx="2895600" cy="2895600"/>
          </a:xfrm>
          <a:prstGeom xmlns:a="http://schemas.openxmlformats.org/drawingml/2006/main" prst="ellipse">
            <a:avLst/>
          </a:prstGeom>
          <a:solidFill xmlns:a="http://schemas.openxmlformats.org/drawingml/2006/main">
            <a:srgbClr val="123C2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9F8850E-7E6B-421C-8F69-9C47CBFC8B9B}"/>
              </a:ext>
            </a:extLst>
          </p:cNvPr>
          <p:cNvSpPr>
            <a:spLocks xmlns:a="http://schemas.openxmlformats.org/drawingml/2006/main" noGrp="1"/>
          </p:cNvSpPr>
          <p:nvPr/>
        </p:nvSpPr>
        <p:spPr>
          <a:xfrm xmlns:a="http://schemas.openxmlformats.org/drawingml/2006/main">
            <a:off x="5048250" y="2819400"/>
            <a:ext cx="20955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a:solidFill>
                  <a:srgbClr val="FFFFFF"/>
                </a:solidFill>
                <a:latin typeface="Arial"/>
                <a:ea typeface="Arial"/>
                <a:cs typeface="Arial"/>
              </a:defRPr>
            </a:pPr>
            <a:r>
              <a:t>قائمة الأسعار</a:t>
            </a:r>
          </a:p>
        </p:txBody>
      </p:sp>
      <p:sp>
        <p:nvSpPr>
          <p:cNvPr id="10" name="">
            <a:extLst xmlns:a="http://schemas.openxmlformats.org/drawingml/2006/main">
              <a:ext uri="{FF2B5EF4-FFF2-40B4-BE49-F238E27FC236}">
                <a16:creationId xmlns:a16="http://schemas.microsoft.com/office/drawing/2014/main" id="{3A1DC6B9-19F2-4FBA-BE08-309A9F974C41}"/>
              </a:ext>
            </a:extLst>
          </p:cNvPr>
          <p:cNvSpPr>
            <a:spLocks xmlns:a="http://schemas.openxmlformats.org/drawingml/2006/main" noGrp="1"/>
          </p:cNvSpPr>
          <p:nvPr/>
        </p:nvSpPr>
        <p:spPr>
          <a:xfrm xmlns:a="http://schemas.openxmlformats.org/drawingml/2006/main">
            <a:off x="5000625" y="3429000"/>
            <a:ext cx="2190750" cy="342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D9EF9F"/>
                </a:solidFill>
                <a:latin typeface="Arial"/>
                <a:ea typeface="Arial"/>
                <a:cs typeface="Arial"/>
              </a:defRPr>
            </a:pPr>
            <a:r>
              <a:t>NAPRI-P1-2026-08</a:t>
            </a:r>
          </a:p>
        </p:txBody>
      </p:sp>
      <p:sp>
        <p:nvSpPr>
          <p:cNvPr id="11" name="">
            <a:extLst xmlns:a="http://schemas.openxmlformats.org/drawingml/2006/main">
              <a:ext uri="{FF2B5EF4-FFF2-40B4-BE49-F238E27FC236}">
                <a16:creationId xmlns:a16="http://schemas.microsoft.com/office/drawing/2014/main" id="{1296F226-9B14-4EE6-8E7F-0886E78BF512}"/>
              </a:ext>
            </a:extLst>
          </p:cNvPr>
          <p:cNvSpPr>
            <a:spLocks xmlns:a="http://schemas.openxmlformats.org/drawingml/2006/main" noGrp="1"/>
          </p:cNvSpPr>
          <p:nvPr/>
        </p:nvSpPr>
        <p:spPr>
          <a:xfrm xmlns:a="http://schemas.openxmlformats.org/drawingml/2006/main">
            <a:off x="5048250" y="3962400"/>
            <a:ext cx="20955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0">
                <a:solidFill>
                  <a:srgbClr val="EEF7D7"/>
                </a:solidFill>
                <a:latin typeface="Arial"/>
                <a:ea typeface="Arial"/>
                <a:cs typeface="Arial"/>
              </a:defRPr>
            </a:pPr>
            <a:r>
              <a:t>المصدر الواحد</a:t>
            </a:r>
          </a:p>
        </p:txBody>
      </p:sp>
      <p:cxnSp>
        <p:nvCxnSpPr>
          <p:cNvPr id="39" name=""/>
          <p:cNvCxnSpPr/>
          <p:nvPr/>
        </p:nvCxnSpPr>
        <p:spPr>
          <a:xfrm xmlns:a="http://schemas.openxmlformats.org/drawingml/2006/main">
            <a:off x="3028950" y="2686050"/>
            <a:ext cx="1619250" cy="933450"/>
          </a:xfrm>
          <a:prstGeom xmlns:a="http://schemas.openxmlformats.org/drawingml/2006/main" prst="straightConnector1">
            <a:avLst/>
          </a:prstGeom>
          <a:ln xmlns:a="http://schemas.openxmlformats.org/drawingml/2006/main" w="28575">
            <a:solidFill>
              <a:srgbClr val="1D5A43"/>
            </a:solidFill>
            <a:prstDash val="solid"/>
          </a:ln>
        </p:spPr>
      </p:cxnSp>
      <p:cxnSp>
        <p:nvCxnSpPr>
          <p:cNvPr id="40" name=""/>
          <p:cNvCxnSpPr/>
          <p:nvPr/>
        </p:nvCxnSpPr>
        <p:spPr>
          <a:xfrm xmlns:a="http://schemas.openxmlformats.org/drawingml/2006/main">
            <a:off x="7543800" y="2686050"/>
            <a:ext cx="1619250" cy="933450"/>
          </a:xfrm>
          <a:prstGeom xmlns:a="http://schemas.openxmlformats.org/drawingml/2006/main" prst="straightConnector1">
            <a:avLst/>
          </a:prstGeom>
          <a:ln xmlns:a="http://schemas.openxmlformats.org/drawingml/2006/main" w="28575">
            <a:solidFill>
              <a:srgbClr val="1D5A43"/>
            </a:solidFill>
            <a:prstDash val="solid"/>
          </a:ln>
        </p:spPr>
      </p:cxnSp>
      <p:cxnSp>
        <p:nvCxnSpPr>
          <p:cNvPr id="41" name=""/>
          <p:cNvCxnSpPr/>
          <p:nvPr/>
        </p:nvCxnSpPr>
        <p:spPr>
          <a:xfrm xmlns:a="http://schemas.openxmlformats.org/drawingml/2006/main">
            <a:off x="3028950" y="4095750"/>
            <a:ext cx="1619250" cy="933450"/>
          </a:xfrm>
          <a:prstGeom xmlns:a="http://schemas.openxmlformats.org/drawingml/2006/main" prst="straightConnector1">
            <a:avLst/>
          </a:prstGeom>
          <a:ln xmlns:a="http://schemas.openxmlformats.org/drawingml/2006/main" w="28575">
            <a:solidFill>
              <a:srgbClr val="1D5A43"/>
            </a:solidFill>
            <a:prstDash val="solid"/>
          </a:ln>
        </p:spPr>
      </p:cxnSp>
      <p:cxnSp>
        <p:nvCxnSpPr>
          <p:cNvPr id="42" name=""/>
          <p:cNvCxnSpPr/>
          <p:nvPr/>
        </p:nvCxnSpPr>
        <p:spPr>
          <a:xfrm xmlns:a="http://schemas.openxmlformats.org/drawingml/2006/main">
            <a:off x="7543800" y="4095750"/>
            <a:ext cx="1619250" cy="933450"/>
          </a:xfrm>
          <a:prstGeom xmlns:a="http://schemas.openxmlformats.org/drawingml/2006/main" prst="straightConnector1">
            <a:avLst/>
          </a:prstGeom>
          <a:ln xmlns:a="http://schemas.openxmlformats.org/drawingml/2006/main" w="28575">
            <a:solidFill>
              <a:srgbClr val="1D5A43"/>
            </a:solidFill>
            <a:prstDash val="solid"/>
          </a:ln>
        </p:spPr>
      </p:cxnSp>
      <p:sp>
        <p:nvSpPr>
          <p:cNvPr id="16" name="">
            <a:extLst xmlns:a="http://schemas.openxmlformats.org/drawingml/2006/main">
              <a:ext uri="{FF2B5EF4-FFF2-40B4-BE49-F238E27FC236}">
                <a16:creationId xmlns:a16="http://schemas.microsoft.com/office/drawing/2014/main" id="{4B6A7527-0467-43FF-84AA-1EB92025BCC6}"/>
              </a:ext>
            </a:extLst>
          </p:cNvPr>
          <p:cNvSpPr>
            <a:spLocks xmlns:a="http://schemas.openxmlformats.org/drawingml/2006/main" noGrp="1"/>
          </p:cNvSpPr>
          <p:nvPr/>
        </p:nvSpPr>
        <p:spPr>
          <a:xfrm xmlns:a="http://schemas.openxmlformats.org/drawingml/2006/main">
            <a:off x="819150" y="2076450"/>
            <a:ext cx="2571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7DDD9"/>
            </a:solidFill>
            <a:prstDash val="solid"/>
          </a:ln>
        </p:spPr>
      </p:sp>
      <p:sp>
        <p:nvSpPr>
          <p:cNvPr id="17" name="">
            <a:extLst xmlns:a="http://schemas.openxmlformats.org/drawingml/2006/main">
              <a:ext uri="{FF2B5EF4-FFF2-40B4-BE49-F238E27FC236}">
                <a16:creationId xmlns:a16="http://schemas.microsoft.com/office/drawing/2014/main" id="{69B08517-1FDC-4D5C-9757-D236860B7184}"/>
              </a:ext>
            </a:extLst>
          </p:cNvPr>
          <p:cNvSpPr>
            <a:spLocks xmlns:a="http://schemas.openxmlformats.org/drawingml/2006/main" noGrp="1"/>
          </p:cNvSpPr>
          <p:nvPr/>
        </p:nvSpPr>
        <p:spPr>
          <a:xfrm xmlns:a="http://schemas.openxmlformats.org/drawingml/2006/main">
            <a:off x="1066800" y="2343150"/>
            <a:ext cx="20764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725" b="1">
                <a:solidFill>
                  <a:srgbClr val="14231C"/>
                </a:solidFill>
                <a:latin typeface="Arial"/>
                <a:ea typeface="Arial"/>
                <a:cs typeface="Arial"/>
              </a:defRPr>
            </a:pPr>
            <a:r>
              <a:t>واجهة الإدارة</a:t>
            </a:r>
          </a:p>
        </p:txBody>
      </p:sp>
      <p:sp>
        <p:nvSpPr>
          <p:cNvPr id="18" name="">
            <a:extLst xmlns:a="http://schemas.openxmlformats.org/drawingml/2006/main">
              <a:ext uri="{FF2B5EF4-FFF2-40B4-BE49-F238E27FC236}">
                <a16:creationId xmlns:a16="http://schemas.microsoft.com/office/drawing/2014/main" id="{4F1F7830-BD51-40EE-B6C5-2A3C333D2DAE}"/>
              </a:ext>
            </a:extLst>
          </p:cNvPr>
          <p:cNvSpPr>
            <a:spLocks xmlns:a="http://schemas.openxmlformats.org/drawingml/2006/main" noGrp="1"/>
          </p:cNvSpPr>
          <p:nvPr/>
        </p:nvSpPr>
        <p:spPr>
          <a:xfrm xmlns:a="http://schemas.openxmlformats.org/drawingml/2006/main">
            <a:off x="1066800" y="2695575"/>
            <a:ext cx="20764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a:solidFill>
                  <a:srgbClr val="66716B"/>
                </a:solidFill>
                <a:latin typeface="Arial"/>
                <a:ea typeface="Arial"/>
                <a:cs typeface="Arial"/>
              </a:defRPr>
            </a:pPr>
            <a:r>
              <a:t>تحديث ورقابة</a:t>
            </a:r>
          </a:p>
        </p:txBody>
      </p:sp>
      <p:sp>
        <p:nvSpPr>
          <p:cNvPr id="19" name="">
            <a:extLst xmlns:a="http://schemas.openxmlformats.org/drawingml/2006/main">
              <a:ext uri="{FF2B5EF4-FFF2-40B4-BE49-F238E27FC236}">
                <a16:creationId xmlns:a16="http://schemas.microsoft.com/office/drawing/2014/main" id="{0978DDD8-73CE-4D6E-8FFF-7039294D2CE7}"/>
              </a:ext>
            </a:extLst>
          </p:cNvPr>
          <p:cNvSpPr>
            <a:spLocks xmlns:a="http://schemas.openxmlformats.org/drawingml/2006/main" noGrp="1"/>
          </p:cNvSpPr>
          <p:nvPr/>
        </p:nvSpPr>
        <p:spPr>
          <a:xfrm xmlns:a="http://schemas.openxmlformats.org/drawingml/2006/main">
            <a:off x="8801100" y="2076450"/>
            <a:ext cx="2571750" cy="1028700"/>
          </a:xfrm>
          <a:prstGeom xmlns:a="http://schemas.openxmlformats.org/drawingml/2006/main" prst="roundRect">
            <a:avLst>
              <a:gd name="adj" fmla="val 7407"/>
            </a:avLst>
          </a:prstGeom>
          <a:solidFill xmlns:a="http://schemas.openxmlformats.org/drawingml/2006/main">
            <a:srgbClr val="EEF7D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AF213E8-6C61-44CA-8F50-E3CEA6AE97FA}"/>
              </a:ext>
            </a:extLst>
          </p:cNvPr>
          <p:cNvSpPr>
            <a:spLocks xmlns:a="http://schemas.openxmlformats.org/drawingml/2006/main" noGrp="1"/>
          </p:cNvSpPr>
          <p:nvPr/>
        </p:nvSpPr>
        <p:spPr>
          <a:xfrm xmlns:a="http://schemas.openxmlformats.org/drawingml/2006/main">
            <a:off x="9048750" y="2343150"/>
            <a:ext cx="20764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725" b="1">
                <a:solidFill>
                  <a:srgbClr val="14231C"/>
                </a:solidFill>
                <a:latin typeface="Arial"/>
                <a:ea typeface="Arial"/>
                <a:cs typeface="Arial"/>
              </a:defRPr>
            </a:pPr>
            <a:r>
              <a:t>واجهة العميل</a:t>
            </a:r>
          </a:p>
        </p:txBody>
      </p:sp>
      <p:sp>
        <p:nvSpPr>
          <p:cNvPr id="21" name="">
            <a:extLst xmlns:a="http://schemas.openxmlformats.org/drawingml/2006/main">
              <a:ext uri="{FF2B5EF4-FFF2-40B4-BE49-F238E27FC236}">
                <a16:creationId xmlns:a16="http://schemas.microsoft.com/office/drawing/2014/main" id="{2D7E8A1A-174E-4A58-A4BA-6CD2885ED335}"/>
              </a:ext>
            </a:extLst>
          </p:cNvPr>
          <p:cNvSpPr>
            <a:spLocks xmlns:a="http://schemas.openxmlformats.org/drawingml/2006/main" noGrp="1"/>
          </p:cNvSpPr>
          <p:nvPr/>
        </p:nvSpPr>
        <p:spPr>
          <a:xfrm xmlns:a="http://schemas.openxmlformats.org/drawingml/2006/main">
            <a:off x="9048750" y="2695575"/>
            <a:ext cx="20764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a:solidFill>
                  <a:srgbClr val="123C2D"/>
                </a:solidFill>
                <a:latin typeface="Arial"/>
                <a:ea typeface="Arial"/>
                <a:cs typeface="Arial"/>
              </a:defRPr>
            </a:pPr>
            <a:r>
              <a:t>عرض وطلب</a:t>
            </a:r>
          </a:p>
        </p:txBody>
      </p:sp>
      <p:sp>
        <p:nvSpPr>
          <p:cNvPr id="22" name="">
            <a:extLst xmlns:a="http://schemas.openxmlformats.org/drawingml/2006/main">
              <a:ext uri="{FF2B5EF4-FFF2-40B4-BE49-F238E27FC236}">
                <a16:creationId xmlns:a16="http://schemas.microsoft.com/office/drawing/2014/main" id="{AD1BA9DE-6F61-4E92-953C-2678AA587DA1}"/>
              </a:ext>
            </a:extLst>
          </p:cNvPr>
          <p:cNvSpPr>
            <a:spLocks xmlns:a="http://schemas.openxmlformats.org/drawingml/2006/main" noGrp="1"/>
          </p:cNvSpPr>
          <p:nvPr/>
        </p:nvSpPr>
        <p:spPr>
          <a:xfrm xmlns:a="http://schemas.openxmlformats.org/drawingml/2006/main">
            <a:off x="819150" y="4591050"/>
            <a:ext cx="2571750" cy="1028700"/>
          </a:xfrm>
          <a:prstGeom xmlns:a="http://schemas.openxmlformats.org/drawingml/2006/main" prst="roundRect">
            <a:avLst>
              <a:gd name="adj" fmla="val 7407"/>
            </a:avLst>
          </a:prstGeom>
          <a:solidFill xmlns:a="http://schemas.openxmlformats.org/drawingml/2006/main">
            <a:srgbClr val="EEF7D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F8BA87D-0620-4B3F-BBAE-DDC33EFC03FD}"/>
              </a:ext>
            </a:extLst>
          </p:cNvPr>
          <p:cNvSpPr>
            <a:spLocks xmlns:a="http://schemas.openxmlformats.org/drawingml/2006/main" noGrp="1"/>
          </p:cNvSpPr>
          <p:nvPr/>
        </p:nvSpPr>
        <p:spPr>
          <a:xfrm xmlns:a="http://schemas.openxmlformats.org/drawingml/2006/main">
            <a:off x="1066800" y="4857750"/>
            <a:ext cx="20764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725" b="1">
                <a:solidFill>
                  <a:srgbClr val="14231C"/>
                </a:solidFill>
                <a:latin typeface="Arial"/>
                <a:ea typeface="Arial"/>
                <a:cs typeface="Arial"/>
              </a:defRPr>
            </a:pPr>
            <a:r>
              <a:t>واجهة المندوب</a:t>
            </a:r>
          </a:p>
        </p:txBody>
      </p:sp>
      <p:sp>
        <p:nvSpPr>
          <p:cNvPr id="24" name="">
            <a:extLst xmlns:a="http://schemas.openxmlformats.org/drawingml/2006/main">
              <a:ext uri="{FF2B5EF4-FFF2-40B4-BE49-F238E27FC236}">
                <a16:creationId xmlns:a16="http://schemas.microsoft.com/office/drawing/2014/main" id="{A1E6A759-8635-4502-AB31-9012D09ADA60}"/>
              </a:ext>
            </a:extLst>
          </p:cNvPr>
          <p:cNvSpPr>
            <a:spLocks xmlns:a="http://schemas.openxmlformats.org/drawingml/2006/main" noGrp="1"/>
          </p:cNvSpPr>
          <p:nvPr/>
        </p:nvSpPr>
        <p:spPr>
          <a:xfrm xmlns:a="http://schemas.openxmlformats.org/drawingml/2006/main">
            <a:off x="1066800" y="5210175"/>
            <a:ext cx="20764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a:solidFill>
                  <a:srgbClr val="123C2D"/>
                </a:solidFill>
                <a:latin typeface="Arial"/>
                <a:ea typeface="Arial"/>
                <a:cs typeface="Arial"/>
              </a:defRPr>
            </a:pPr>
            <a:r>
              <a:t>بيع وتحصيل</a:t>
            </a:r>
          </a:p>
        </p:txBody>
      </p:sp>
      <p:sp>
        <p:nvSpPr>
          <p:cNvPr id="25" name="">
            <a:extLst xmlns:a="http://schemas.openxmlformats.org/drawingml/2006/main">
              <a:ext uri="{FF2B5EF4-FFF2-40B4-BE49-F238E27FC236}">
                <a16:creationId xmlns:a16="http://schemas.microsoft.com/office/drawing/2014/main" id="{D2DFD38E-9B0B-42FE-92FB-0DD124F1C152}"/>
              </a:ext>
            </a:extLst>
          </p:cNvPr>
          <p:cNvSpPr>
            <a:spLocks xmlns:a="http://schemas.openxmlformats.org/drawingml/2006/main" noGrp="1"/>
          </p:cNvSpPr>
          <p:nvPr/>
        </p:nvSpPr>
        <p:spPr>
          <a:xfrm xmlns:a="http://schemas.openxmlformats.org/drawingml/2006/main">
            <a:off x="8801100" y="4591050"/>
            <a:ext cx="2571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7DDD9"/>
            </a:solidFill>
            <a:prstDash val="solid"/>
          </a:ln>
        </p:spPr>
      </p:sp>
      <p:sp>
        <p:nvSpPr>
          <p:cNvPr id="26" name="">
            <a:extLst xmlns:a="http://schemas.openxmlformats.org/drawingml/2006/main">
              <a:ext uri="{FF2B5EF4-FFF2-40B4-BE49-F238E27FC236}">
                <a16:creationId xmlns:a16="http://schemas.microsoft.com/office/drawing/2014/main" id="{20C7C894-8A69-4B88-BEB1-555CBE03FD76}"/>
              </a:ext>
            </a:extLst>
          </p:cNvPr>
          <p:cNvSpPr>
            <a:spLocks xmlns:a="http://schemas.openxmlformats.org/drawingml/2006/main" noGrp="1"/>
          </p:cNvSpPr>
          <p:nvPr/>
        </p:nvSpPr>
        <p:spPr>
          <a:xfrm xmlns:a="http://schemas.openxmlformats.org/drawingml/2006/main">
            <a:off x="9048750" y="4857750"/>
            <a:ext cx="20764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725" b="1">
                <a:solidFill>
                  <a:srgbClr val="14231C"/>
                </a:solidFill>
                <a:latin typeface="Arial"/>
                <a:ea typeface="Arial"/>
                <a:cs typeface="Arial"/>
              </a:defRPr>
            </a:pPr>
            <a:r>
              <a:t>قاعدة البيانات</a:t>
            </a:r>
          </a:p>
        </p:txBody>
      </p:sp>
      <p:sp>
        <p:nvSpPr>
          <p:cNvPr id="27" name="">
            <a:extLst xmlns:a="http://schemas.openxmlformats.org/drawingml/2006/main">
              <a:ext uri="{FF2B5EF4-FFF2-40B4-BE49-F238E27FC236}">
                <a16:creationId xmlns:a16="http://schemas.microsoft.com/office/drawing/2014/main" id="{ADB95559-E8EF-49A3-A199-111A75551299}"/>
              </a:ext>
            </a:extLst>
          </p:cNvPr>
          <p:cNvSpPr>
            <a:spLocks xmlns:a="http://schemas.openxmlformats.org/drawingml/2006/main" noGrp="1"/>
          </p:cNvSpPr>
          <p:nvPr/>
        </p:nvSpPr>
        <p:spPr>
          <a:xfrm xmlns:a="http://schemas.openxmlformats.org/drawingml/2006/main">
            <a:off x="9048750" y="5210175"/>
            <a:ext cx="20764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a:solidFill>
                  <a:srgbClr val="66716B"/>
                </a:solidFill>
                <a:latin typeface="Arial"/>
                <a:ea typeface="Arial"/>
                <a:cs typeface="Arial"/>
              </a:defRPr>
            </a:pPr>
            <a:r>
              <a:t>تحقق قبل الحفظ</a:t>
            </a:r>
          </a:p>
        </p:txBody>
      </p:sp>
    </p:spTree>
    <p:extLst>
      <p:ext uri="{BB962C8B-B14F-4D97-AF65-F5344CB8AC3E}">
        <p14:creationId xmlns:p14="http://schemas.microsoft.com/office/powerpoint/2010/main" val="787429126"/>
      </p:ext>
    </p:extLst>
  </p:cSld>
</p:sld>
</file>

<file path=ppt/slides/slide5.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37B7947-97AF-4CF4-8F19-0539C2023E2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D9EF9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4893DA2-281D-4845-9080-F5CDB779F0CD}"/>
              </a:ext>
            </a:extLst>
          </p:cNvPr>
          <p:cNvSpPr>
            <a:spLocks xmlns:a="http://schemas.openxmlformats.org/drawingml/2006/main" noGrp="1"/>
          </p:cNvSpPr>
          <p:nvPr/>
        </p:nvSpPr>
        <p:spPr>
          <a:xfrm xmlns:a="http://schemas.openxmlformats.org/drawingml/2006/main">
            <a:off x="8515350" y="323850"/>
            <a:ext cx="29527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D5A43"/>
                </a:solidFill>
                <a:latin typeface="Arial"/>
                <a:ea typeface="Arial"/>
                <a:cs typeface="Arial"/>
              </a:defRPr>
            </a:pPr>
            <a:r>
              <a:t>دورة البيع</a:t>
            </a:r>
          </a:p>
        </p:txBody>
      </p:sp>
      <p:sp>
        <p:nvSpPr>
          <p:cNvPr id="3" name="">
            <a:extLst xmlns:a="http://schemas.openxmlformats.org/drawingml/2006/main">
              <a:ext uri="{FF2B5EF4-FFF2-40B4-BE49-F238E27FC236}">
                <a16:creationId xmlns:a16="http://schemas.microsoft.com/office/drawing/2014/main" id="{21D903E3-DB55-4ACA-A0C0-55A582B44E74}"/>
              </a:ext>
            </a:extLst>
          </p:cNvPr>
          <p:cNvSpPr>
            <a:spLocks xmlns:a="http://schemas.openxmlformats.org/drawingml/2006/main" noGrp="1"/>
          </p:cNvSpPr>
          <p:nvPr/>
        </p:nvSpPr>
        <p:spPr>
          <a:xfrm xmlns:a="http://schemas.openxmlformats.org/drawingml/2006/main">
            <a:off x="704850" y="628650"/>
            <a:ext cx="1076325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3300" b="1">
                <a:solidFill>
                  <a:srgbClr val="14231C"/>
                </a:solidFill>
                <a:latin typeface="Arial"/>
                <a:ea typeface="Arial"/>
                <a:cs typeface="Arial"/>
              </a:defRPr>
            </a:pPr>
            <a:r>
              <a:t>رحلة واحدة من الطلب إلى التحصيل</a:t>
            </a:r>
          </a:p>
        </p:txBody>
      </p:sp>
      <p:sp>
        <p:nvSpPr>
          <p:cNvPr id="4" name="">
            <a:extLst xmlns:a="http://schemas.openxmlformats.org/drawingml/2006/main">
              <a:ext uri="{FF2B5EF4-FFF2-40B4-BE49-F238E27FC236}">
                <a16:creationId xmlns:a16="http://schemas.microsoft.com/office/drawing/2014/main" id="{F7F86B96-9473-4FBF-A979-87675034ACED}"/>
              </a:ext>
            </a:extLst>
          </p:cNvPr>
          <p:cNvSpPr>
            <a:spLocks xmlns:a="http://schemas.openxmlformats.org/drawingml/2006/main" noGrp="1"/>
          </p:cNvSpPr>
          <p:nvPr/>
        </p:nvSpPr>
        <p:spPr>
          <a:xfrm xmlns:a="http://schemas.openxmlformats.org/drawingml/2006/main">
            <a:off x="704850" y="1314450"/>
            <a:ext cx="1076325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75" b="0">
                <a:solidFill>
                  <a:srgbClr val="66716B"/>
                </a:solidFill>
                <a:latin typeface="Arial"/>
                <a:ea typeface="Arial"/>
                <a:cs typeface="Arial"/>
              </a:defRPr>
            </a:pPr>
            <a:r>
              <a:t>المرحلة الأولى تغطي المسار الذي نحتاجه لتشغيل البيع فعليًا.</a:t>
            </a:r>
          </a:p>
        </p:txBody>
      </p:sp>
      <p:cxnSp>
        <p:nvCxnSpPr>
          <p:cNvPr id="35" name=""/>
          <p:cNvCxnSpPr/>
          <p:nvPr/>
        </p:nvCxnSpPr>
        <p:spPr>
          <a:xfrm xmlns:a="http://schemas.openxmlformats.org/drawingml/2006/main">
            <a:off x="704850" y="6343650"/>
            <a:ext cx="10763250" cy="95"/>
          </a:xfrm>
          <a:prstGeom xmlns:a="http://schemas.openxmlformats.org/drawingml/2006/main" prst="straightConnector1">
            <a:avLst/>
          </a:prstGeom>
          <a:ln xmlns:a="http://schemas.openxmlformats.org/drawingml/2006/main" w="9525">
            <a:solidFill>
              <a:srgbClr val="D7DDD9"/>
            </a:solidFill>
            <a:prstDash val="solid"/>
          </a:ln>
        </p:spPr>
      </p:cxnSp>
      <p:sp>
        <p:nvSpPr>
          <p:cNvPr id="6" name="">
            <a:extLst xmlns:a="http://schemas.openxmlformats.org/drawingml/2006/main">
              <a:ext uri="{FF2B5EF4-FFF2-40B4-BE49-F238E27FC236}">
                <a16:creationId xmlns:a16="http://schemas.microsoft.com/office/drawing/2014/main" id="{3248F033-B548-4E24-A479-0342F9656BBF}"/>
              </a:ext>
            </a:extLst>
          </p:cNvPr>
          <p:cNvSpPr>
            <a:spLocks xmlns:a="http://schemas.openxmlformats.org/drawingml/2006/main" noGrp="1"/>
          </p:cNvSpPr>
          <p:nvPr/>
        </p:nvSpPr>
        <p:spPr>
          <a:xfrm xmlns:a="http://schemas.openxmlformats.org/drawingml/2006/main">
            <a:off x="704850" y="6457950"/>
            <a:ext cx="571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6B"/>
                </a:solidFill>
                <a:latin typeface="Arial"/>
                <a:ea typeface="Arial"/>
                <a:cs typeface="Arial"/>
              </a:defRPr>
            </a:pPr>
            <a:r>
              <a:t>05</a:t>
            </a:r>
          </a:p>
        </p:txBody>
      </p:sp>
      <p:sp>
        <p:nvSpPr>
          <p:cNvPr id="7" name="">
            <a:extLst xmlns:a="http://schemas.openxmlformats.org/drawingml/2006/main">
              <a:ext uri="{FF2B5EF4-FFF2-40B4-BE49-F238E27FC236}">
                <a16:creationId xmlns:a16="http://schemas.microsoft.com/office/drawing/2014/main" id="{09543940-C687-47DF-A3AF-A297419E7665}"/>
              </a:ext>
            </a:extLst>
          </p:cNvPr>
          <p:cNvSpPr>
            <a:spLocks xmlns:a="http://schemas.openxmlformats.org/drawingml/2006/main" noGrp="1"/>
          </p:cNvSpPr>
          <p:nvPr/>
        </p:nvSpPr>
        <p:spPr>
          <a:xfrm xmlns:a="http://schemas.openxmlformats.org/drawingml/2006/main">
            <a:off x="9315450" y="6457950"/>
            <a:ext cx="21526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66716B"/>
                </a:solidFill>
                <a:latin typeface="Arial"/>
                <a:ea typeface="Arial"/>
                <a:cs typeface="Arial"/>
              </a:defRPr>
            </a:pPr>
            <a:r>
              <a:t>نبري · المرحلة الأولى</a:t>
            </a:r>
          </a:p>
        </p:txBody>
      </p:sp>
      <p:cxnSp>
        <p:nvCxnSpPr>
          <p:cNvPr id="38" name=""/>
          <p:cNvCxnSpPr/>
          <p:nvPr/>
        </p:nvCxnSpPr>
        <p:spPr>
          <a:xfrm xmlns:a="http://schemas.openxmlformats.org/drawingml/2006/main">
            <a:off x="1219200" y="3390900"/>
            <a:ext cx="9734550" cy="95"/>
          </a:xfrm>
          <a:prstGeom xmlns:a="http://schemas.openxmlformats.org/drawingml/2006/main" prst="straightConnector1">
            <a:avLst/>
          </a:prstGeom>
          <a:ln xmlns:a="http://schemas.openxmlformats.org/drawingml/2006/main" w="28575">
            <a:solidFill>
              <a:srgbClr val="123C2D"/>
            </a:solidFill>
            <a:prstDash val="solid"/>
          </a:ln>
        </p:spPr>
      </p:cxnSp>
      <p:sp>
        <p:nvSpPr>
          <p:cNvPr id="9" name="">
            <a:extLst xmlns:a="http://schemas.openxmlformats.org/drawingml/2006/main">
              <a:ext uri="{FF2B5EF4-FFF2-40B4-BE49-F238E27FC236}">
                <a16:creationId xmlns:a16="http://schemas.microsoft.com/office/drawing/2014/main" id="{4912919C-BCBB-4030-8CF4-E7C6CA5D851D}"/>
              </a:ext>
            </a:extLst>
          </p:cNvPr>
          <p:cNvSpPr>
            <a:spLocks xmlns:a="http://schemas.openxmlformats.org/drawingml/2006/main" noGrp="1"/>
          </p:cNvSpPr>
          <p:nvPr/>
        </p:nvSpPr>
        <p:spPr>
          <a:xfrm xmlns:a="http://schemas.openxmlformats.org/drawingml/2006/main">
            <a:off x="933450" y="3105150"/>
            <a:ext cx="571500" cy="571500"/>
          </a:xfrm>
          <a:prstGeom xmlns:a="http://schemas.openxmlformats.org/drawingml/2006/main" prst="ellipse">
            <a:avLst/>
          </a:prstGeom>
          <a:solidFill xmlns:a="http://schemas.openxmlformats.org/drawingml/2006/main">
            <a:srgbClr val="123C2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F6C56EF-332A-4C5E-998B-CE012AACB93B}"/>
              </a:ext>
            </a:extLst>
          </p:cNvPr>
          <p:cNvSpPr>
            <a:spLocks xmlns:a="http://schemas.openxmlformats.org/drawingml/2006/main" noGrp="1"/>
          </p:cNvSpPr>
          <p:nvPr/>
        </p:nvSpPr>
        <p:spPr>
          <a:xfrm xmlns:a="http://schemas.openxmlformats.org/drawingml/2006/main">
            <a:off x="933450" y="3257550"/>
            <a:ext cx="571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D9EF9F"/>
                </a:solidFill>
                <a:latin typeface="Arial"/>
                <a:ea typeface="Arial"/>
                <a:cs typeface="Arial"/>
              </a:defRPr>
            </a:pPr>
            <a:r>
              <a:t>1</a:t>
            </a:r>
          </a:p>
        </p:txBody>
      </p:sp>
      <p:sp>
        <p:nvSpPr>
          <p:cNvPr id="11" name="">
            <a:extLst xmlns:a="http://schemas.openxmlformats.org/drawingml/2006/main">
              <a:ext uri="{FF2B5EF4-FFF2-40B4-BE49-F238E27FC236}">
                <a16:creationId xmlns:a16="http://schemas.microsoft.com/office/drawing/2014/main" id="{B0B111A8-A3E2-4669-97DA-AA80512CD476}"/>
              </a:ext>
            </a:extLst>
          </p:cNvPr>
          <p:cNvSpPr>
            <a:spLocks xmlns:a="http://schemas.openxmlformats.org/drawingml/2006/main" noGrp="1"/>
          </p:cNvSpPr>
          <p:nvPr/>
        </p:nvSpPr>
        <p:spPr>
          <a:xfrm xmlns:a="http://schemas.openxmlformats.org/drawingml/2006/main">
            <a:off x="219075" y="2247900"/>
            <a:ext cx="2000250" cy="4762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4231C"/>
                </a:solidFill>
                <a:latin typeface="Arial"/>
                <a:ea typeface="Arial"/>
                <a:cs typeface="Arial"/>
              </a:defRPr>
            </a:pPr>
            <a:r>
              <a:t>اختيار المنتجات</a:t>
            </a:r>
          </a:p>
        </p:txBody>
      </p:sp>
      <p:sp>
        <p:nvSpPr>
          <p:cNvPr id="12" name="">
            <a:extLst xmlns:a="http://schemas.openxmlformats.org/drawingml/2006/main">
              <a:ext uri="{FF2B5EF4-FFF2-40B4-BE49-F238E27FC236}">
                <a16:creationId xmlns:a16="http://schemas.microsoft.com/office/drawing/2014/main" id="{EA7D45C0-78DA-4CFE-BC99-1D4EA13657B9}"/>
              </a:ext>
            </a:extLst>
          </p:cNvPr>
          <p:cNvSpPr>
            <a:spLocks xmlns:a="http://schemas.openxmlformats.org/drawingml/2006/main" noGrp="1"/>
          </p:cNvSpPr>
          <p:nvPr/>
        </p:nvSpPr>
        <p:spPr>
          <a:xfrm xmlns:a="http://schemas.openxmlformats.org/drawingml/2006/main">
            <a:off x="219075" y="2724150"/>
            <a:ext cx="20002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6716B"/>
                </a:solidFill>
                <a:latin typeface="Arial"/>
                <a:ea typeface="Arial"/>
                <a:cs typeface="Arial"/>
              </a:defRPr>
            </a:pPr>
            <a:r>
              <a:t>العميل أو المندوب</a:t>
            </a:r>
          </a:p>
        </p:txBody>
      </p:sp>
      <p:sp>
        <p:nvSpPr>
          <p:cNvPr id="13" name="">
            <a:extLst xmlns:a="http://schemas.openxmlformats.org/drawingml/2006/main">
              <a:ext uri="{FF2B5EF4-FFF2-40B4-BE49-F238E27FC236}">
                <a16:creationId xmlns:a16="http://schemas.microsoft.com/office/drawing/2014/main" id="{F095A8EA-1671-45C0-9494-5C78C6498A90}"/>
              </a:ext>
            </a:extLst>
          </p:cNvPr>
          <p:cNvSpPr>
            <a:spLocks xmlns:a="http://schemas.openxmlformats.org/drawingml/2006/main" noGrp="1"/>
          </p:cNvSpPr>
          <p:nvPr/>
        </p:nvSpPr>
        <p:spPr>
          <a:xfrm xmlns:a="http://schemas.openxmlformats.org/drawingml/2006/main">
            <a:off x="3362325" y="3105150"/>
            <a:ext cx="571500" cy="571500"/>
          </a:xfrm>
          <a:prstGeom xmlns:a="http://schemas.openxmlformats.org/drawingml/2006/main" prst="ellipse">
            <a:avLst/>
          </a:prstGeom>
          <a:solidFill xmlns:a="http://schemas.openxmlformats.org/drawingml/2006/main">
            <a:srgbClr val="123C2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0737CCF-1A8F-4EC9-BF0B-11FAF0C78A19}"/>
              </a:ext>
            </a:extLst>
          </p:cNvPr>
          <p:cNvSpPr>
            <a:spLocks xmlns:a="http://schemas.openxmlformats.org/drawingml/2006/main" noGrp="1"/>
          </p:cNvSpPr>
          <p:nvPr/>
        </p:nvSpPr>
        <p:spPr>
          <a:xfrm xmlns:a="http://schemas.openxmlformats.org/drawingml/2006/main">
            <a:off x="3362325" y="3257550"/>
            <a:ext cx="571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D9EF9F"/>
                </a:solidFill>
                <a:latin typeface="Arial"/>
                <a:ea typeface="Arial"/>
                <a:cs typeface="Arial"/>
              </a:defRPr>
            </a:pPr>
            <a:r>
              <a:t>2</a:t>
            </a:r>
          </a:p>
        </p:txBody>
      </p:sp>
      <p:sp>
        <p:nvSpPr>
          <p:cNvPr id="15" name="">
            <a:extLst xmlns:a="http://schemas.openxmlformats.org/drawingml/2006/main">
              <a:ext uri="{FF2B5EF4-FFF2-40B4-BE49-F238E27FC236}">
                <a16:creationId xmlns:a16="http://schemas.microsoft.com/office/drawing/2014/main" id="{4480BC63-3CAF-47D4-822A-A9C31F78E1DE}"/>
              </a:ext>
            </a:extLst>
          </p:cNvPr>
          <p:cNvSpPr>
            <a:spLocks xmlns:a="http://schemas.openxmlformats.org/drawingml/2006/main" noGrp="1"/>
          </p:cNvSpPr>
          <p:nvPr/>
        </p:nvSpPr>
        <p:spPr>
          <a:xfrm xmlns:a="http://schemas.openxmlformats.org/drawingml/2006/main">
            <a:off x="2647950" y="3924300"/>
            <a:ext cx="2000250" cy="4762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4231C"/>
                </a:solidFill>
                <a:latin typeface="Arial"/>
                <a:ea typeface="Arial"/>
                <a:cs typeface="Arial"/>
              </a:defRPr>
            </a:pPr>
            <a:r>
              <a:t>تسجيل الطلب</a:t>
            </a:r>
          </a:p>
        </p:txBody>
      </p:sp>
      <p:sp>
        <p:nvSpPr>
          <p:cNvPr id="16" name="">
            <a:extLst xmlns:a="http://schemas.openxmlformats.org/drawingml/2006/main">
              <a:ext uri="{FF2B5EF4-FFF2-40B4-BE49-F238E27FC236}">
                <a16:creationId xmlns:a16="http://schemas.microsoft.com/office/drawing/2014/main" id="{6DDD24EB-89B0-4F12-A4D2-8A890B956E6B}"/>
              </a:ext>
            </a:extLst>
          </p:cNvPr>
          <p:cNvSpPr>
            <a:spLocks xmlns:a="http://schemas.openxmlformats.org/drawingml/2006/main" noGrp="1"/>
          </p:cNvSpPr>
          <p:nvPr/>
        </p:nvSpPr>
        <p:spPr>
          <a:xfrm xmlns:a="http://schemas.openxmlformats.org/drawingml/2006/main">
            <a:off x="2647950" y="4400550"/>
            <a:ext cx="20002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6716B"/>
                </a:solidFill>
                <a:latin typeface="Arial"/>
                <a:ea typeface="Arial"/>
                <a:cs typeface="Arial"/>
              </a:defRPr>
            </a:pPr>
            <a:r>
              <a:t>سعر ومخزون مُتحقق</a:t>
            </a:r>
          </a:p>
        </p:txBody>
      </p:sp>
      <p:sp>
        <p:nvSpPr>
          <p:cNvPr id="17" name="">
            <a:extLst xmlns:a="http://schemas.openxmlformats.org/drawingml/2006/main">
              <a:ext uri="{FF2B5EF4-FFF2-40B4-BE49-F238E27FC236}">
                <a16:creationId xmlns:a16="http://schemas.microsoft.com/office/drawing/2014/main" id="{26F9872F-C43E-4A7E-9FAB-192BC22430DF}"/>
              </a:ext>
            </a:extLst>
          </p:cNvPr>
          <p:cNvSpPr>
            <a:spLocks xmlns:a="http://schemas.openxmlformats.org/drawingml/2006/main" noGrp="1"/>
          </p:cNvSpPr>
          <p:nvPr/>
        </p:nvSpPr>
        <p:spPr>
          <a:xfrm xmlns:a="http://schemas.openxmlformats.org/drawingml/2006/main">
            <a:off x="5791200" y="3105150"/>
            <a:ext cx="571500" cy="571500"/>
          </a:xfrm>
          <a:prstGeom xmlns:a="http://schemas.openxmlformats.org/drawingml/2006/main" prst="ellipse">
            <a:avLst/>
          </a:prstGeom>
          <a:solidFill xmlns:a="http://schemas.openxmlformats.org/drawingml/2006/main">
            <a:srgbClr val="123C2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D974F0E-8AFF-4407-A172-53A7586FBB64}"/>
              </a:ext>
            </a:extLst>
          </p:cNvPr>
          <p:cNvSpPr>
            <a:spLocks xmlns:a="http://schemas.openxmlformats.org/drawingml/2006/main" noGrp="1"/>
          </p:cNvSpPr>
          <p:nvPr/>
        </p:nvSpPr>
        <p:spPr>
          <a:xfrm xmlns:a="http://schemas.openxmlformats.org/drawingml/2006/main">
            <a:off x="5791200" y="3257550"/>
            <a:ext cx="571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D9EF9F"/>
                </a:solidFill>
                <a:latin typeface="Arial"/>
                <a:ea typeface="Arial"/>
                <a:cs typeface="Arial"/>
              </a:defRPr>
            </a:pPr>
            <a:r>
              <a:t>3</a:t>
            </a:r>
          </a:p>
        </p:txBody>
      </p:sp>
      <p:sp>
        <p:nvSpPr>
          <p:cNvPr id="19" name="">
            <a:extLst xmlns:a="http://schemas.openxmlformats.org/drawingml/2006/main">
              <a:ext uri="{FF2B5EF4-FFF2-40B4-BE49-F238E27FC236}">
                <a16:creationId xmlns:a16="http://schemas.microsoft.com/office/drawing/2014/main" id="{B59C5A5E-E2D8-493D-869A-66366B267D4A}"/>
              </a:ext>
            </a:extLst>
          </p:cNvPr>
          <p:cNvSpPr>
            <a:spLocks xmlns:a="http://schemas.openxmlformats.org/drawingml/2006/main" noGrp="1"/>
          </p:cNvSpPr>
          <p:nvPr/>
        </p:nvSpPr>
        <p:spPr>
          <a:xfrm xmlns:a="http://schemas.openxmlformats.org/drawingml/2006/main">
            <a:off x="5076825" y="2247900"/>
            <a:ext cx="2000250" cy="4762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4231C"/>
                </a:solidFill>
                <a:latin typeface="Arial"/>
                <a:ea typeface="Arial"/>
                <a:cs typeface="Arial"/>
              </a:defRPr>
            </a:pPr>
            <a:r>
              <a:t>مراجعة الإدارة</a:t>
            </a:r>
          </a:p>
        </p:txBody>
      </p:sp>
      <p:sp>
        <p:nvSpPr>
          <p:cNvPr id="20" name="">
            <a:extLst xmlns:a="http://schemas.openxmlformats.org/drawingml/2006/main">
              <a:ext uri="{FF2B5EF4-FFF2-40B4-BE49-F238E27FC236}">
                <a16:creationId xmlns:a16="http://schemas.microsoft.com/office/drawing/2014/main" id="{BAA60095-9A26-4A60-866B-AE3A25F0832B}"/>
              </a:ext>
            </a:extLst>
          </p:cNvPr>
          <p:cNvSpPr>
            <a:spLocks xmlns:a="http://schemas.openxmlformats.org/drawingml/2006/main" noGrp="1"/>
          </p:cNvSpPr>
          <p:nvPr/>
        </p:nvSpPr>
        <p:spPr>
          <a:xfrm xmlns:a="http://schemas.openxmlformats.org/drawingml/2006/main">
            <a:off x="5076825" y="2724150"/>
            <a:ext cx="20002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6716B"/>
                </a:solidFill>
                <a:latin typeface="Arial"/>
                <a:ea typeface="Arial"/>
                <a:cs typeface="Arial"/>
              </a:defRPr>
            </a:pPr>
            <a:r>
              <a:t>قبول وتحديث الحالة</a:t>
            </a:r>
          </a:p>
        </p:txBody>
      </p:sp>
      <p:sp>
        <p:nvSpPr>
          <p:cNvPr id="21" name="">
            <a:extLst xmlns:a="http://schemas.openxmlformats.org/drawingml/2006/main">
              <a:ext uri="{FF2B5EF4-FFF2-40B4-BE49-F238E27FC236}">
                <a16:creationId xmlns:a16="http://schemas.microsoft.com/office/drawing/2014/main" id="{D23BCB3F-804D-472E-BA35-FB698362DA01}"/>
              </a:ext>
            </a:extLst>
          </p:cNvPr>
          <p:cNvSpPr>
            <a:spLocks xmlns:a="http://schemas.openxmlformats.org/drawingml/2006/main" noGrp="1"/>
          </p:cNvSpPr>
          <p:nvPr/>
        </p:nvSpPr>
        <p:spPr>
          <a:xfrm xmlns:a="http://schemas.openxmlformats.org/drawingml/2006/main">
            <a:off x="8220075" y="3105150"/>
            <a:ext cx="571500" cy="571500"/>
          </a:xfrm>
          <a:prstGeom xmlns:a="http://schemas.openxmlformats.org/drawingml/2006/main" prst="ellipse">
            <a:avLst/>
          </a:prstGeom>
          <a:solidFill xmlns:a="http://schemas.openxmlformats.org/drawingml/2006/main">
            <a:srgbClr val="123C2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7A3801C-CB53-451F-BC7D-FCF2C8777F07}"/>
              </a:ext>
            </a:extLst>
          </p:cNvPr>
          <p:cNvSpPr>
            <a:spLocks xmlns:a="http://schemas.openxmlformats.org/drawingml/2006/main" noGrp="1"/>
          </p:cNvSpPr>
          <p:nvPr/>
        </p:nvSpPr>
        <p:spPr>
          <a:xfrm xmlns:a="http://schemas.openxmlformats.org/drawingml/2006/main">
            <a:off x="8220075" y="3257550"/>
            <a:ext cx="571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D9EF9F"/>
                </a:solidFill>
                <a:latin typeface="Arial"/>
                <a:ea typeface="Arial"/>
                <a:cs typeface="Arial"/>
              </a:defRPr>
            </a:pPr>
            <a:r>
              <a:t>4</a:t>
            </a:r>
          </a:p>
        </p:txBody>
      </p:sp>
      <p:sp>
        <p:nvSpPr>
          <p:cNvPr id="23" name="">
            <a:extLst xmlns:a="http://schemas.openxmlformats.org/drawingml/2006/main">
              <a:ext uri="{FF2B5EF4-FFF2-40B4-BE49-F238E27FC236}">
                <a16:creationId xmlns:a16="http://schemas.microsoft.com/office/drawing/2014/main" id="{C37BFA55-5C0C-4C0A-8153-610EBF82C317}"/>
              </a:ext>
            </a:extLst>
          </p:cNvPr>
          <p:cNvSpPr>
            <a:spLocks xmlns:a="http://schemas.openxmlformats.org/drawingml/2006/main" noGrp="1"/>
          </p:cNvSpPr>
          <p:nvPr/>
        </p:nvSpPr>
        <p:spPr>
          <a:xfrm xmlns:a="http://schemas.openxmlformats.org/drawingml/2006/main">
            <a:off x="7505700" y="3924300"/>
            <a:ext cx="2000250" cy="4762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4231C"/>
                </a:solidFill>
                <a:latin typeface="Arial"/>
                <a:ea typeface="Arial"/>
                <a:cs typeface="Arial"/>
              </a:defRPr>
            </a:pPr>
            <a:r>
              <a:t>التجهيز والتسليم</a:t>
            </a:r>
          </a:p>
        </p:txBody>
      </p:sp>
      <p:sp>
        <p:nvSpPr>
          <p:cNvPr id="24" name="">
            <a:extLst xmlns:a="http://schemas.openxmlformats.org/drawingml/2006/main">
              <a:ext uri="{FF2B5EF4-FFF2-40B4-BE49-F238E27FC236}">
                <a16:creationId xmlns:a16="http://schemas.microsoft.com/office/drawing/2014/main" id="{57747D0F-9818-4613-BFE9-AC43720ED2E5}"/>
              </a:ext>
            </a:extLst>
          </p:cNvPr>
          <p:cNvSpPr>
            <a:spLocks xmlns:a="http://schemas.openxmlformats.org/drawingml/2006/main" noGrp="1"/>
          </p:cNvSpPr>
          <p:nvPr/>
        </p:nvSpPr>
        <p:spPr>
          <a:xfrm xmlns:a="http://schemas.openxmlformats.org/drawingml/2006/main">
            <a:off x="7505700" y="4400550"/>
            <a:ext cx="20002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6716B"/>
                </a:solidFill>
                <a:latin typeface="Arial"/>
                <a:ea typeface="Arial"/>
                <a:cs typeface="Arial"/>
              </a:defRPr>
            </a:pPr>
            <a:r>
              <a:t>متابعة تنفيذ الطلب</a:t>
            </a:r>
          </a:p>
        </p:txBody>
      </p:sp>
      <p:sp>
        <p:nvSpPr>
          <p:cNvPr id="25" name="">
            <a:extLst xmlns:a="http://schemas.openxmlformats.org/drawingml/2006/main">
              <a:ext uri="{FF2B5EF4-FFF2-40B4-BE49-F238E27FC236}">
                <a16:creationId xmlns:a16="http://schemas.microsoft.com/office/drawing/2014/main" id="{1F6514F8-02E8-47E0-8C13-D6F65328B40C}"/>
              </a:ext>
            </a:extLst>
          </p:cNvPr>
          <p:cNvSpPr>
            <a:spLocks xmlns:a="http://schemas.openxmlformats.org/drawingml/2006/main" noGrp="1"/>
          </p:cNvSpPr>
          <p:nvPr/>
        </p:nvSpPr>
        <p:spPr>
          <a:xfrm xmlns:a="http://schemas.openxmlformats.org/drawingml/2006/main">
            <a:off x="10648950" y="3105150"/>
            <a:ext cx="571500" cy="571500"/>
          </a:xfrm>
          <a:prstGeom xmlns:a="http://schemas.openxmlformats.org/drawingml/2006/main" prst="ellipse">
            <a:avLst/>
          </a:prstGeom>
          <a:solidFill xmlns:a="http://schemas.openxmlformats.org/drawingml/2006/main">
            <a:srgbClr val="C7963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1C6C806-33EF-49EB-B0F8-2ECA8EA96D6F}"/>
              </a:ext>
            </a:extLst>
          </p:cNvPr>
          <p:cNvSpPr>
            <a:spLocks xmlns:a="http://schemas.openxmlformats.org/drawingml/2006/main" noGrp="1"/>
          </p:cNvSpPr>
          <p:nvPr/>
        </p:nvSpPr>
        <p:spPr>
          <a:xfrm xmlns:a="http://schemas.openxmlformats.org/drawingml/2006/main">
            <a:off x="10648950" y="3257550"/>
            <a:ext cx="571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t>5</a:t>
            </a:r>
          </a:p>
        </p:txBody>
      </p:sp>
      <p:sp>
        <p:nvSpPr>
          <p:cNvPr id="27" name="">
            <a:extLst xmlns:a="http://schemas.openxmlformats.org/drawingml/2006/main">
              <a:ext uri="{FF2B5EF4-FFF2-40B4-BE49-F238E27FC236}">
                <a16:creationId xmlns:a16="http://schemas.microsoft.com/office/drawing/2014/main" id="{59A7BB79-6F43-4BAC-9732-B544BCDA42E5}"/>
              </a:ext>
            </a:extLst>
          </p:cNvPr>
          <p:cNvSpPr>
            <a:spLocks xmlns:a="http://schemas.openxmlformats.org/drawingml/2006/main" noGrp="1"/>
          </p:cNvSpPr>
          <p:nvPr/>
        </p:nvSpPr>
        <p:spPr>
          <a:xfrm xmlns:a="http://schemas.openxmlformats.org/drawingml/2006/main">
            <a:off x="9934575" y="2247900"/>
            <a:ext cx="2000250" cy="476250"/>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4231C"/>
                </a:solidFill>
                <a:latin typeface="Arial"/>
                <a:ea typeface="Arial"/>
                <a:cs typeface="Arial"/>
              </a:defRPr>
            </a:pPr>
            <a:r>
              <a:t>التحصيل</a:t>
            </a:r>
          </a:p>
        </p:txBody>
      </p:sp>
      <p:sp>
        <p:nvSpPr>
          <p:cNvPr id="28" name="">
            <a:extLst xmlns:a="http://schemas.openxmlformats.org/drawingml/2006/main">
              <a:ext uri="{FF2B5EF4-FFF2-40B4-BE49-F238E27FC236}">
                <a16:creationId xmlns:a16="http://schemas.microsoft.com/office/drawing/2014/main" id="{565FA847-F99C-47EC-8063-3F2FACE80253}"/>
              </a:ext>
            </a:extLst>
          </p:cNvPr>
          <p:cNvSpPr>
            <a:spLocks xmlns:a="http://schemas.openxmlformats.org/drawingml/2006/main" noGrp="1"/>
          </p:cNvSpPr>
          <p:nvPr/>
        </p:nvSpPr>
        <p:spPr>
          <a:xfrm xmlns:a="http://schemas.openxmlformats.org/drawingml/2006/main">
            <a:off x="9934575" y="2724150"/>
            <a:ext cx="20002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6716B"/>
                </a:solidFill>
                <a:latin typeface="Arial"/>
                <a:ea typeface="Arial"/>
                <a:cs typeface="Arial"/>
              </a:defRPr>
            </a:pPr>
            <a:r>
              <a:t>تحديث رصيد العميل</a:t>
            </a:r>
          </a:p>
        </p:txBody>
      </p:sp>
      <p:sp>
        <p:nvSpPr>
          <p:cNvPr id="29" name="">
            <a:extLst xmlns:a="http://schemas.openxmlformats.org/drawingml/2006/main">
              <a:ext uri="{FF2B5EF4-FFF2-40B4-BE49-F238E27FC236}">
                <a16:creationId xmlns:a16="http://schemas.microsoft.com/office/drawing/2014/main" id="{BBACE524-4C9A-42F5-B8AB-B67253A4EB07}"/>
              </a:ext>
            </a:extLst>
          </p:cNvPr>
          <p:cNvSpPr>
            <a:spLocks xmlns:a="http://schemas.openxmlformats.org/drawingml/2006/main" noGrp="1"/>
          </p:cNvSpPr>
          <p:nvPr/>
        </p:nvSpPr>
        <p:spPr>
          <a:xfrm xmlns:a="http://schemas.openxmlformats.org/drawingml/2006/main">
            <a:off x="3848100" y="5238750"/>
            <a:ext cx="4495800" cy="590550"/>
          </a:xfrm>
          <a:prstGeom xmlns:a="http://schemas.openxmlformats.org/drawingml/2006/main" prst="roundRect">
            <a:avLst>
              <a:gd name="adj" fmla="val 12903"/>
            </a:avLst>
          </a:prstGeom>
          <a:solidFill xmlns:a="http://schemas.openxmlformats.org/drawingml/2006/main">
            <a:srgbClr val="D9EF9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97EC93B-CD1D-492F-85D4-4DD6A09840CB}"/>
              </a:ext>
            </a:extLst>
          </p:cNvPr>
          <p:cNvSpPr>
            <a:spLocks xmlns:a="http://schemas.openxmlformats.org/drawingml/2006/main" noGrp="1"/>
          </p:cNvSpPr>
          <p:nvPr/>
        </p:nvSpPr>
        <p:spPr>
          <a:xfrm xmlns:a="http://schemas.openxmlformats.org/drawingml/2006/main">
            <a:off x="4114800" y="5410200"/>
            <a:ext cx="39624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123C2D"/>
                </a:solidFill>
                <a:latin typeface="Arial"/>
                <a:ea typeface="Arial"/>
                <a:cs typeface="Arial"/>
              </a:defRPr>
            </a:pPr>
            <a:r>
              <a:t>كل خطوة تترك أثرًا يمكن الرجوع إليه</a:t>
            </a:r>
          </a:p>
        </p:txBody>
      </p:sp>
    </p:spTree>
    <p:extLst>
      <p:ext uri="{BB962C8B-B14F-4D97-AF65-F5344CB8AC3E}">
        <p14:creationId xmlns:p14="http://schemas.microsoft.com/office/powerpoint/2010/main" val="2041825070"/>
      </p:ext>
    </p:extLst>
  </p:cSld>
</p:sld>
</file>

<file path=ppt/slides/slide6.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B585B9D-1781-4BCB-A192-572537CFE3B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D9EF9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9028C31-91DA-47D7-975E-166694624C89}"/>
              </a:ext>
            </a:extLst>
          </p:cNvPr>
          <p:cNvSpPr>
            <a:spLocks xmlns:a="http://schemas.openxmlformats.org/drawingml/2006/main" noGrp="1"/>
          </p:cNvSpPr>
          <p:nvPr/>
        </p:nvSpPr>
        <p:spPr>
          <a:xfrm xmlns:a="http://schemas.openxmlformats.org/drawingml/2006/main">
            <a:off x="8515350" y="323850"/>
            <a:ext cx="29527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D5A43"/>
                </a:solidFill>
                <a:latin typeface="Arial"/>
                <a:ea typeface="Arial"/>
                <a:cs typeface="Arial"/>
              </a:defRPr>
            </a:pPr>
            <a:r>
              <a:t>حدود المرحلة الأولى</a:t>
            </a:r>
          </a:p>
        </p:txBody>
      </p:sp>
      <p:sp>
        <p:nvSpPr>
          <p:cNvPr id="3" name="">
            <a:extLst xmlns:a="http://schemas.openxmlformats.org/drawingml/2006/main">
              <a:ext uri="{FF2B5EF4-FFF2-40B4-BE49-F238E27FC236}">
                <a16:creationId xmlns:a16="http://schemas.microsoft.com/office/drawing/2014/main" id="{A3A0D9F5-0156-4645-A48D-A4F2382D24FC}"/>
              </a:ext>
            </a:extLst>
          </p:cNvPr>
          <p:cNvSpPr>
            <a:spLocks xmlns:a="http://schemas.openxmlformats.org/drawingml/2006/main" noGrp="1"/>
          </p:cNvSpPr>
          <p:nvPr/>
        </p:nvSpPr>
        <p:spPr>
          <a:xfrm xmlns:a="http://schemas.openxmlformats.org/drawingml/2006/main">
            <a:off x="704850" y="628650"/>
            <a:ext cx="1076325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3300" b="1">
                <a:solidFill>
                  <a:srgbClr val="14231C"/>
                </a:solidFill>
                <a:latin typeface="Arial"/>
                <a:ea typeface="Arial"/>
                <a:cs typeface="Arial"/>
              </a:defRPr>
            </a:pPr>
            <a:r>
              <a:t>ننفذ الضروري الآن — ونؤجل الباقي بوضوح</a:t>
            </a:r>
          </a:p>
        </p:txBody>
      </p:sp>
      <p:sp>
        <p:nvSpPr>
          <p:cNvPr id="4" name="">
            <a:extLst xmlns:a="http://schemas.openxmlformats.org/drawingml/2006/main">
              <a:ext uri="{FF2B5EF4-FFF2-40B4-BE49-F238E27FC236}">
                <a16:creationId xmlns:a16="http://schemas.microsoft.com/office/drawing/2014/main" id="{5C7F6078-D705-4F84-B4F0-1EF2605898F6}"/>
              </a:ext>
            </a:extLst>
          </p:cNvPr>
          <p:cNvSpPr>
            <a:spLocks xmlns:a="http://schemas.openxmlformats.org/drawingml/2006/main" noGrp="1"/>
          </p:cNvSpPr>
          <p:nvPr/>
        </p:nvSpPr>
        <p:spPr>
          <a:xfrm xmlns:a="http://schemas.openxmlformats.org/drawingml/2006/main">
            <a:off x="704850" y="1314450"/>
            <a:ext cx="1076325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75" b="0">
                <a:solidFill>
                  <a:srgbClr val="66716B"/>
                </a:solidFill>
                <a:latin typeface="Arial"/>
                <a:ea typeface="Arial"/>
                <a:cs typeface="Arial"/>
              </a:defRPr>
            </a:pPr>
            <a:r>
              <a:t>الأيقونة المؤجلة لا تكون ميتة؛ تشرح ما يلزم لتفعيلها عندما يحين وقتها.</a:t>
            </a:r>
          </a:p>
        </p:txBody>
      </p:sp>
      <p:cxnSp>
        <p:nvCxnSpPr>
          <p:cNvPr id="20" name=""/>
          <p:cNvCxnSpPr/>
          <p:nvPr/>
        </p:nvCxnSpPr>
        <p:spPr>
          <a:xfrm xmlns:a="http://schemas.openxmlformats.org/drawingml/2006/main">
            <a:off x="704850" y="6343650"/>
            <a:ext cx="10763250" cy="95"/>
          </a:xfrm>
          <a:prstGeom xmlns:a="http://schemas.openxmlformats.org/drawingml/2006/main" prst="straightConnector1">
            <a:avLst/>
          </a:prstGeom>
          <a:ln xmlns:a="http://schemas.openxmlformats.org/drawingml/2006/main" w="9525">
            <a:solidFill>
              <a:srgbClr val="D7DDD9"/>
            </a:solidFill>
            <a:prstDash val="solid"/>
          </a:ln>
        </p:spPr>
      </p:cxnSp>
      <p:sp>
        <p:nvSpPr>
          <p:cNvPr id="6" name="">
            <a:extLst xmlns:a="http://schemas.openxmlformats.org/drawingml/2006/main">
              <a:ext uri="{FF2B5EF4-FFF2-40B4-BE49-F238E27FC236}">
                <a16:creationId xmlns:a16="http://schemas.microsoft.com/office/drawing/2014/main" id="{86F20F3B-506B-4551-8822-57EE52AFA4EB}"/>
              </a:ext>
            </a:extLst>
          </p:cNvPr>
          <p:cNvSpPr>
            <a:spLocks xmlns:a="http://schemas.openxmlformats.org/drawingml/2006/main" noGrp="1"/>
          </p:cNvSpPr>
          <p:nvPr/>
        </p:nvSpPr>
        <p:spPr>
          <a:xfrm xmlns:a="http://schemas.openxmlformats.org/drawingml/2006/main">
            <a:off x="704850" y="6457950"/>
            <a:ext cx="571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6B"/>
                </a:solidFill>
                <a:latin typeface="Arial"/>
                <a:ea typeface="Arial"/>
                <a:cs typeface="Arial"/>
              </a:defRPr>
            </a:pPr>
            <a:r>
              <a:t>06</a:t>
            </a:r>
          </a:p>
        </p:txBody>
      </p:sp>
      <p:sp>
        <p:nvSpPr>
          <p:cNvPr id="7" name="">
            <a:extLst xmlns:a="http://schemas.openxmlformats.org/drawingml/2006/main">
              <a:ext uri="{FF2B5EF4-FFF2-40B4-BE49-F238E27FC236}">
                <a16:creationId xmlns:a16="http://schemas.microsoft.com/office/drawing/2014/main" id="{464C95E6-7D90-4A20-8D5E-94E90307438A}"/>
              </a:ext>
            </a:extLst>
          </p:cNvPr>
          <p:cNvSpPr>
            <a:spLocks xmlns:a="http://schemas.openxmlformats.org/drawingml/2006/main" noGrp="1"/>
          </p:cNvSpPr>
          <p:nvPr/>
        </p:nvSpPr>
        <p:spPr>
          <a:xfrm xmlns:a="http://schemas.openxmlformats.org/drawingml/2006/main">
            <a:off x="9315450" y="6457950"/>
            <a:ext cx="21526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66716B"/>
                </a:solidFill>
                <a:latin typeface="Arial"/>
                <a:ea typeface="Arial"/>
                <a:cs typeface="Arial"/>
              </a:defRPr>
            </a:pPr>
            <a:r>
              <a:t>نبري · المرحلة الأولى</a:t>
            </a:r>
          </a:p>
        </p:txBody>
      </p:sp>
      <p:sp>
        <p:nvSpPr>
          <p:cNvPr id="8" name="">
            <a:extLst xmlns:a="http://schemas.openxmlformats.org/drawingml/2006/main">
              <a:ext uri="{FF2B5EF4-FFF2-40B4-BE49-F238E27FC236}">
                <a16:creationId xmlns:a16="http://schemas.microsoft.com/office/drawing/2014/main" id="{6F97D22C-F1E2-4E7D-B775-43C7DE164123}"/>
              </a:ext>
            </a:extLst>
          </p:cNvPr>
          <p:cNvSpPr>
            <a:spLocks xmlns:a="http://schemas.openxmlformats.org/drawingml/2006/main" noGrp="1"/>
          </p:cNvSpPr>
          <p:nvPr/>
        </p:nvSpPr>
        <p:spPr>
          <a:xfrm xmlns:a="http://schemas.openxmlformats.org/drawingml/2006/main">
            <a:off x="704850" y="2152650"/>
            <a:ext cx="5219700" cy="3352800"/>
          </a:xfrm>
          <a:prstGeom xmlns:a="http://schemas.openxmlformats.org/drawingml/2006/main" prst="roundRect">
            <a:avLst>
              <a:gd name="adj" fmla="val 2273"/>
            </a:avLst>
          </a:prstGeom>
          <a:solidFill xmlns:a="http://schemas.openxmlformats.org/drawingml/2006/main">
            <a:srgbClr val="123C2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5A43D82-54AB-4724-A9CF-029A6163C710}"/>
              </a:ext>
            </a:extLst>
          </p:cNvPr>
          <p:cNvSpPr>
            <a:spLocks xmlns:a="http://schemas.openxmlformats.org/drawingml/2006/main" noGrp="1"/>
          </p:cNvSpPr>
          <p:nvPr/>
        </p:nvSpPr>
        <p:spPr>
          <a:xfrm xmlns:a="http://schemas.openxmlformats.org/drawingml/2006/main">
            <a:off x="1047750" y="2457450"/>
            <a:ext cx="45148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250" b="1">
                <a:solidFill>
                  <a:srgbClr val="FFFFFF"/>
                </a:solidFill>
                <a:latin typeface="Arial"/>
                <a:ea typeface="Arial"/>
                <a:cs typeface="Arial"/>
              </a:defRPr>
            </a:pPr>
            <a:r>
              <a:t>يعمل في المرحلة الأولى</a:t>
            </a:r>
          </a:p>
        </p:txBody>
      </p:sp>
      <p:sp>
        <p:nvSpPr>
          <p:cNvPr id="10" name="">
            <a:extLst xmlns:a="http://schemas.openxmlformats.org/drawingml/2006/main">
              <a:ext uri="{FF2B5EF4-FFF2-40B4-BE49-F238E27FC236}">
                <a16:creationId xmlns:a16="http://schemas.microsoft.com/office/drawing/2014/main" id="{0A7CA0D7-697B-413D-A6EF-371BFC1FE1C0}"/>
              </a:ext>
            </a:extLst>
          </p:cNvPr>
          <p:cNvSpPr>
            <a:spLocks xmlns:a="http://schemas.openxmlformats.org/drawingml/2006/main" noGrp="1"/>
          </p:cNvSpPr>
          <p:nvPr/>
        </p:nvSpPr>
        <p:spPr>
          <a:xfrm xmlns:a="http://schemas.openxmlformats.org/drawingml/2006/main">
            <a:off x="1047750" y="3143250"/>
            <a:ext cx="4514850" cy="1905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725" b="0">
                <a:solidFill>
                  <a:srgbClr val="EEF7D7"/>
                </a:solidFill>
                <a:latin typeface="Arial"/>
                <a:ea typeface="Arial"/>
                <a:cs typeface="Arial"/>
              </a:defRPr>
            </a:pPr>
            <a:r>
              <a:t>✓ الطلبات وتحديث حالتها
✓ قائمة الأسعار والمخزون
✓ العملاء والمندوبون والمسارات
✓ تسجيل التحصيلات
✓ واجهات الإدارة والمندوب والعميل</a:t>
            </a:r>
          </a:p>
        </p:txBody>
      </p:sp>
      <p:sp>
        <p:nvSpPr>
          <p:cNvPr id="11" name="">
            <a:extLst xmlns:a="http://schemas.openxmlformats.org/drawingml/2006/main">
              <a:ext uri="{FF2B5EF4-FFF2-40B4-BE49-F238E27FC236}">
                <a16:creationId xmlns:a16="http://schemas.microsoft.com/office/drawing/2014/main" id="{4B9E8589-FF4B-41F9-879B-540D232BEE5C}"/>
              </a:ext>
            </a:extLst>
          </p:cNvPr>
          <p:cNvSpPr>
            <a:spLocks xmlns:a="http://schemas.openxmlformats.org/drawingml/2006/main" noGrp="1"/>
          </p:cNvSpPr>
          <p:nvPr/>
        </p:nvSpPr>
        <p:spPr>
          <a:xfrm xmlns:a="http://schemas.openxmlformats.org/drawingml/2006/main">
            <a:off x="6267450" y="2152650"/>
            <a:ext cx="520065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D7DDD9"/>
            </a:solidFill>
            <a:prstDash val="solid"/>
          </a:ln>
        </p:spPr>
      </p:sp>
      <p:sp>
        <p:nvSpPr>
          <p:cNvPr id="12" name="">
            <a:extLst xmlns:a="http://schemas.openxmlformats.org/drawingml/2006/main">
              <a:ext uri="{FF2B5EF4-FFF2-40B4-BE49-F238E27FC236}">
                <a16:creationId xmlns:a16="http://schemas.microsoft.com/office/drawing/2014/main" id="{F894CD49-0C9F-4AE7-83E1-3CD47CAD6542}"/>
              </a:ext>
            </a:extLst>
          </p:cNvPr>
          <p:cNvSpPr>
            <a:spLocks xmlns:a="http://schemas.openxmlformats.org/drawingml/2006/main" noGrp="1"/>
          </p:cNvSpPr>
          <p:nvPr/>
        </p:nvSpPr>
        <p:spPr>
          <a:xfrm xmlns:a="http://schemas.openxmlformats.org/drawingml/2006/main">
            <a:off x="6610350" y="2457450"/>
            <a:ext cx="45148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250" b="1">
                <a:solidFill>
                  <a:srgbClr val="14231C"/>
                </a:solidFill>
                <a:latin typeface="Arial"/>
                <a:ea typeface="Arial"/>
                <a:cs typeface="Arial"/>
              </a:defRPr>
            </a:pPr>
            <a:r>
              <a:t>مؤجل مع متطلبات واضحة</a:t>
            </a:r>
          </a:p>
        </p:txBody>
      </p:sp>
      <p:sp>
        <p:nvSpPr>
          <p:cNvPr id="13" name="">
            <a:extLst xmlns:a="http://schemas.openxmlformats.org/drawingml/2006/main">
              <a:ext uri="{FF2B5EF4-FFF2-40B4-BE49-F238E27FC236}">
                <a16:creationId xmlns:a16="http://schemas.microsoft.com/office/drawing/2014/main" id="{A93C9E51-3C9E-4032-A4C8-2EC3C533E6DB}"/>
              </a:ext>
            </a:extLst>
          </p:cNvPr>
          <p:cNvSpPr>
            <a:spLocks xmlns:a="http://schemas.openxmlformats.org/drawingml/2006/main" noGrp="1"/>
          </p:cNvSpPr>
          <p:nvPr/>
        </p:nvSpPr>
        <p:spPr>
          <a:xfrm xmlns:a="http://schemas.openxmlformats.org/drawingml/2006/main">
            <a:off x="6610350" y="3143250"/>
            <a:ext cx="4514850" cy="1619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75" b="0">
                <a:solidFill>
                  <a:srgbClr val="66716B"/>
                </a:solidFill>
                <a:latin typeface="Arial"/>
                <a:ea typeface="Arial"/>
                <a:cs typeface="Arial"/>
              </a:defRPr>
            </a:pPr>
            <a:r>
              <a:t>التسويق الآلي — يحتاج قنوات ومحتوى
GPS — يحتاج عناوين وإحداثيات
الحسابات والصلاحيات — تحتاج تعريف المستخدمين
المخزون المتقدم — يحتاج جردًا وإجراءات اعتماد</a:t>
            </a:r>
          </a:p>
        </p:txBody>
      </p:sp>
      <p:sp>
        <p:nvSpPr>
          <p:cNvPr id="14" name="">
            <a:extLst xmlns:a="http://schemas.openxmlformats.org/drawingml/2006/main">
              <a:ext uri="{FF2B5EF4-FFF2-40B4-BE49-F238E27FC236}">
                <a16:creationId xmlns:a16="http://schemas.microsoft.com/office/drawing/2014/main" id="{8FB55798-27DB-4C3D-A3FD-D8ADB183C824}"/>
              </a:ext>
            </a:extLst>
          </p:cNvPr>
          <p:cNvSpPr>
            <a:spLocks xmlns:a="http://schemas.openxmlformats.org/drawingml/2006/main" noGrp="1"/>
          </p:cNvSpPr>
          <p:nvPr/>
        </p:nvSpPr>
        <p:spPr>
          <a:xfrm xmlns:a="http://schemas.openxmlformats.org/drawingml/2006/main">
            <a:off x="6610350" y="4914900"/>
            <a:ext cx="4019550" cy="400050"/>
          </a:xfrm>
          <a:prstGeom xmlns:a="http://schemas.openxmlformats.org/drawingml/2006/main" prst="roundRect">
            <a:avLst>
              <a:gd name="adj" fmla="val 19048"/>
            </a:avLst>
          </a:prstGeom>
          <a:solidFill xmlns:a="http://schemas.openxmlformats.org/drawingml/2006/main">
            <a:srgbClr val="EEF7D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6405EFB-F9B0-48C1-A774-B3A6E2D98CF9}"/>
              </a:ext>
            </a:extLst>
          </p:cNvPr>
          <p:cNvSpPr>
            <a:spLocks xmlns:a="http://schemas.openxmlformats.org/drawingml/2006/main" noGrp="1"/>
          </p:cNvSpPr>
          <p:nvPr/>
        </p:nvSpPr>
        <p:spPr>
          <a:xfrm xmlns:a="http://schemas.openxmlformats.org/drawingml/2006/main">
            <a:off x="6819900" y="5019675"/>
            <a:ext cx="3600450" cy="2381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123C2D"/>
                </a:solidFill>
                <a:latin typeface="Arial"/>
                <a:ea typeface="Arial"/>
                <a:cs typeface="Arial"/>
              </a:defRPr>
            </a:pPr>
            <a:r>
              <a:t>تأجيل منظم، وليس وظيفة معطلة</a:t>
            </a:r>
          </a:p>
        </p:txBody>
      </p:sp>
    </p:spTree>
    <p:extLst>
      <p:ext uri="{BB962C8B-B14F-4D97-AF65-F5344CB8AC3E}">
        <p14:creationId xmlns:p14="http://schemas.microsoft.com/office/powerpoint/2010/main" val="947888605"/>
      </p:ext>
    </p:extLst>
  </p:cSld>
</p:sld>
</file>

<file path=ppt/slides/slide7.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6691245-F9DB-454D-8152-C4D324B8C08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D9EF9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D72EDC-8DD0-4D1A-9502-1DB9084E87B8}"/>
              </a:ext>
            </a:extLst>
          </p:cNvPr>
          <p:cNvSpPr>
            <a:spLocks xmlns:a="http://schemas.openxmlformats.org/drawingml/2006/main" noGrp="1"/>
          </p:cNvSpPr>
          <p:nvPr/>
        </p:nvSpPr>
        <p:spPr>
          <a:xfrm xmlns:a="http://schemas.openxmlformats.org/drawingml/2006/main">
            <a:off x="8515350" y="323850"/>
            <a:ext cx="29527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D5A43"/>
                </a:solidFill>
                <a:latin typeface="Arial"/>
                <a:ea typeface="Arial"/>
                <a:cs typeface="Arial"/>
              </a:defRPr>
            </a:pPr>
            <a:r>
              <a:t>تجربة الاجتماع</a:t>
            </a:r>
          </a:p>
        </p:txBody>
      </p:sp>
      <p:sp>
        <p:nvSpPr>
          <p:cNvPr id="3" name="">
            <a:extLst xmlns:a="http://schemas.openxmlformats.org/drawingml/2006/main">
              <a:ext uri="{FF2B5EF4-FFF2-40B4-BE49-F238E27FC236}">
                <a16:creationId xmlns:a16="http://schemas.microsoft.com/office/drawing/2014/main" id="{140659B1-AA5E-4F41-9617-00B8E1D765B4}"/>
              </a:ext>
            </a:extLst>
          </p:cNvPr>
          <p:cNvSpPr>
            <a:spLocks xmlns:a="http://schemas.openxmlformats.org/drawingml/2006/main" noGrp="1"/>
          </p:cNvSpPr>
          <p:nvPr/>
        </p:nvSpPr>
        <p:spPr>
          <a:xfrm xmlns:a="http://schemas.openxmlformats.org/drawingml/2006/main">
            <a:off x="704850" y="628650"/>
            <a:ext cx="1076325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3300" b="1">
                <a:solidFill>
                  <a:srgbClr val="14231C"/>
                </a:solidFill>
                <a:latin typeface="Arial"/>
                <a:ea typeface="Arial"/>
                <a:cs typeface="Arial"/>
              </a:defRPr>
            </a:pPr>
            <a:r>
              <a:t>سنثبت أن النظام يعمل في خمس دقائق</a:t>
            </a:r>
          </a:p>
        </p:txBody>
      </p:sp>
      <p:sp>
        <p:nvSpPr>
          <p:cNvPr id="4" name="">
            <a:extLst xmlns:a="http://schemas.openxmlformats.org/drawingml/2006/main">
              <a:ext uri="{FF2B5EF4-FFF2-40B4-BE49-F238E27FC236}">
                <a16:creationId xmlns:a16="http://schemas.microsoft.com/office/drawing/2014/main" id="{AF3FF222-05D4-4D84-B422-9C33DB04808E}"/>
              </a:ext>
            </a:extLst>
          </p:cNvPr>
          <p:cNvSpPr>
            <a:spLocks xmlns:a="http://schemas.openxmlformats.org/drawingml/2006/main" noGrp="1"/>
          </p:cNvSpPr>
          <p:nvPr/>
        </p:nvSpPr>
        <p:spPr>
          <a:xfrm xmlns:a="http://schemas.openxmlformats.org/drawingml/2006/main">
            <a:off x="704850" y="1314450"/>
            <a:ext cx="1076325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75" b="0">
                <a:solidFill>
                  <a:srgbClr val="66716B"/>
                </a:solidFill>
                <a:latin typeface="Arial"/>
                <a:ea typeface="Arial"/>
                <a:cs typeface="Arial"/>
              </a:defRPr>
            </a:pPr>
            <a:r>
              <a:t>نفذ الرحلة أمام غسان من واجهة العميل، ثم ارجع إلى الإدارة والمندوب.</a:t>
            </a:r>
          </a:p>
        </p:txBody>
      </p:sp>
      <p:cxnSp>
        <p:nvCxnSpPr>
          <p:cNvPr id="38" name=""/>
          <p:cNvCxnSpPr/>
          <p:nvPr/>
        </p:nvCxnSpPr>
        <p:spPr>
          <a:xfrm xmlns:a="http://schemas.openxmlformats.org/drawingml/2006/main">
            <a:off x="704850" y="6343650"/>
            <a:ext cx="10763250" cy="95"/>
          </a:xfrm>
          <a:prstGeom xmlns:a="http://schemas.openxmlformats.org/drawingml/2006/main" prst="straightConnector1">
            <a:avLst/>
          </a:prstGeom>
          <a:ln xmlns:a="http://schemas.openxmlformats.org/drawingml/2006/main" w="9525">
            <a:solidFill>
              <a:srgbClr val="D7DDD9"/>
            </a:solidFill>
            <a:prstDash val="solid"/>
          </a:ln>
        </p:spPr>
      </p:cxnSp>
      <p:sp>
        <p:nvSpPr>
          <p:cNvPr id="6" name="">
            <a:extLst xmlns:a="http://schemas.openxmlformats.org/drawingml/2006/main">
              <a:ext uri="{FF2B5EF4-FFF2-40B4-BE49-F238E27FC236}">
                <a16:creationId xmlns:a16="http://schemas.microsoft.com/office/drawing/2014/main" id="{6DE7ABED-B64E-4203-B95E-6C8C1EE1FDB2}"/>
              </a:ext>
            </a:extLst>
          </p:cNvPr>
          <p:cNvSpPr>
            <a:spLocks xmlns:a="http://schemas.openxmlformats.org/drawingml/2006/main" noGrp="1"/>
          </p:cNvSpPr>
          <p:nvPr/>
        </p:nvSpPr>
        <p:spPr>
          <a:xfrm xmlns:a="http://schemas.openxmlformats.org/drawingml/2006/main">
            <a:off x="704850" y="6457950"/>
            <a:ext cx="571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6B"/>
                </a:solidFill>
                <a:latin typeface="Arial"/>
                <a:ea typeface="Arial"/>
                <a:cs typeface="Arial"/>
              </a:defRPr>
            </a:pPr>
            <a:r>
              <a:t>07</a:t>
            </a:r>
          </a:p>
        </p:txBody>
      </p:sp>
      <p:sp>
        <p:nvSpPr>
          <p:cNvPr id="7" name="">
            <a:extLst xmlns:a="http://schemas.openxmlformats.org/drawingml/2006/main">
              <a:ext uri="{FF2B5EF4-FFF2-40B4-BE49-F238E27FC236}">
                <a16:creationId xmlns:a16="http://schemas.microsoft.com/office/drawing/2014/main" id="{0A6A9F5E-2692-47F2-A956-41D1135C7B19}"/>
              </a:ext>
            </a:extLst>
          </p:cNvPr>
          <p:cNvSpPr>
            <a:spLocks xmlns:a="http://schemas.openxmlformats.org/drawingml/2006/main" noGrp="1"/>
          </p:cNvSpPr>
          <p:nvPr/>
        </p:nvSpPr>
        <p:spPr>
          <a:xfrm xmlns:a="http://schemas.openxmlformats.org/drawingml/2006/main">
            <a:off x="9315450" y="6457950"/>
            <a:ext cx="21526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66716B"/>
                </a:solidFill>
                <a:latin typeface="Arial"/>
                <a:ea typeface="Arial"/>
                <a:cs typeface="Arial"/>
              </a:defRPr>
            </a:pPr>
            <a:r>
              <a:t>نبري · المرحلة الأولى</a:t>
            </a:r>
          </a:p>
        </p:txBody>
      </p:sp>
      <p:sp>
        <p:nvSpPr>
          <p:cNvPr id="8" name="">
            <a:extLst xmlns:a="http://schemas.openxmlformats.org/drawingml/2006/main">
              <a:ext uri="{FF2B5EF4-FFF2-40B4-BE49-F238E27FC236}">
                <a16:creationId xmlns:a16="http://schemas.microsoft.com/office/drawing/2014/main" id="{1E1D1D46-E111-469A-A1DA-87F1D77A1CED}"/>
              </a:ext>
            </a:extLst>
          </p:cNvPr>
          <p:cNvSpPr>
            <a:spLocks xmlns:a="http://schemas.openxmlformats.org/drawingml/2006/main" noGrp="1"/>
          </p:cNvSpPr>
          <p:nvPr/>
        </p:nvSpPr>
        <p:spPr>
          <a:xfrm xmlns:a="http://schemas.openxmlformats.org/drawingml/2006/main">
            <a:off x="704850" y="2114550"/>
            <a:ext cx="7239000" cy="3619500"/>
          </a:xfrm>
          <a:prstGeom xmlns:a="http://schemas.openxmlformats.org/drawingml/2006/main" prst="roundRect">
            <a:avLst>
              <a:gd name="adj" fmla="val 2105"/>
            </a:avLst>
          </a:prstGeom>
          <a:solidFill xmlns:a="http://schemas.openxmlformats.org/drawingml/2006/main">
            <a:srgbClr val="FFFFFF"/>
          </a:solidFill>
          <a:ln xmlns:a="http://schemas.openxmlformats.org/drawingml/2006/main" w="9525">
            <a:solidFill>
              <a:srgbClr val="D7DDD9"/>
            </a:solidFill>
            <a:prstDash val="solid"/>
          </a:ln>
        </p:spPr>
      </p:sp>
      <p:sp>
        <p:nvSpPr>
          <p:cNvPr id="9" name="">
            <a:extLst xmlns:a="http://schemas.openxmlformats.org/drawingml/2006/main">
              <a:ext uri="{FF2B5EF4-FFF2-40B4-BE49-F238E27FC236}">
                <a16:creationId xmlns:a16="http://schemas.microsoft.com/office/drawing/2014/main" id="{0D65C8A0-22B9-411C-AF0D-B135BF098E9E}"/>
              </a:ext>
            </a:extLst>
          </p:cNvPr>
          <p:cNvSpPr>
            <a:spLocks xmlns:a="http://schemas.openxmlformats.org/drawingml/2006/main" noGrp="1"/>
          </p:cNvSpPr>
          <p:nvPr/>
        </p:nvSpPr>
        <p:spPr>
          <a:xfrm xmlns:a="http://schemas.openxmlformats.org/drawingml/2006/main">
            <a:off x="1066800" y="2381250"/>
            <a:ext cx="400050" cy="400050"/>
          </a:xfrm>
          <a:prstGeom xmlns:a="http://schemas.openxmlformats.org/drawingml/2006/main" prst="ellipse">
            <a:avLst/>
          </a:prstGeom>
          <a:solidFill xmlns:a="http://schemas.openxmlformats.org/drawingml/2006/main">
            <a:srgbClr val="123C2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F3F27CB-77B7-4B46-85C1-0BB3A190DA8C}"/>
              </a:ext>
            </a:extLst>
          </p:cNvPr>
          <p:cNvSpPr>
            <a:spLocks xmlns:a="http://schemas.openxmlformats.org/drawingml/2006/main" noGrp="1"/>
          </p:cNvSpPr>
          <p:nvPr/>
        </p:nvSpPr>
        <p:spPr>
          <a:xfrm xmlns:a="http://schemas.openxmlformats.org/drawingml/2006/main">
            <a:off x="1066800" y="2476500"/>
            <a:ext cx="4000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1</a:t>
            </a:r>
          </a:p>
        </p:txBody>
      </p:sp>
      <p:sp>
        <p:nvSpPr>
          <p:cNvPr id="11" name="">
            <a:extLst xmlns:a="http://schemas.openxmlformats.org/drawingml/2006/main">
              <a:ext uri="{FF2B5EF4-FFF2-40B4-BE49-F238E27FC236}">
                <a16:creationId xmlns:a16="http://schemas.microsoft.com/office/drawing/2014/main" id="{27B34914-68B1-4D95-B3AD-56A290F93BF2}"/>
              </a:ext>
            </a:extLst>
          </p:cNvPr>
          <p:cNvSpPr>
            <a:spLocks xmlns:a="http://schemas.openxmlformats.org/drawingml/2006/main" noGrp="1"/>
          </p:cNvSpPr>
          <p:nvPr/>
        </p:nvSpPr>
        <p:spPr>
          <a:xfrm xmlns:a="http://schemas.openxmlformats.org/drawingml/2006/main">
            <a:off x="1657350" y="2419350"/>
            <a:ext cx="57531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650" b="1">
                <a:solidFill>
                  <a:srgbClr val="14231C"/>
                </a:solidFill>
                <a:latin typeface="Arial"/>
                <a:ea typeface="Arial"/>
                <a:cs typeface="Arial"/>
              </a:defRPr>
            </a:pPr>
            <a:r>
              <a:t>افتح واجهة العميل واختر منتجًا</a:t>
            </a:r>
          </a:p>
        </p:txBody>
      </p:sp>
      <p:cxnSp>
        <p:nvCxnSpPr>
          <p:cNvPr id="45" name=""/>
          <p:cNvCxnSpPr/>
          <p:nvPr/>
        </p:nvCxnSpPr>
        <p:spPr>
          <a:xfrm xmlns:a="http://schemas.openxmlformats.org/drawingml/2006/main">
            <a:off x="1066800" y="2952750"/>
            <a:ext cx="6343650" cy="95"/>
          </a:xfrm>
          <a:prstGeom xmlns:a="http://schemas.openxmlformats.org/drawingml/2006/main" prst="straightConnector1">
            <a:avLst/>
          </a:prstGeom>
          <a:ln xmlns:a="http://schemas.openxmlformats.org/drawingml/2006/main" w="9525">
            <a:solidFill>
              <a:srgbClr val="EBEFEC"/>
            </a:solidFill>
            <a:prstDash val="solid"/>
          </a:ln>
        </p:spPr>
      </p:cxnSp>
      <p:sp>
        <p:nvSpPr>
          <p:cNvPr id="13" name="">
            <a:extLst xmlns:a="http://schemas.openxmlformats.org/drawingml/2006/main">
              <a:ext uri="{FF2B5EF4-FFF2-40B4-BE49-F238E27FC236}">
                <a16:creationId xmlns:a16="http://schemas.microsoft.com/office/drawing/2014/main" id="{698427C5-32B6-469C-9F1E-BBCBDB13DF1E}"/>
              </a:ext>
            </a:extLst>
          </p:cNvPr>
          <p:cNvSpPr>
            <a:spLocks xmlns:a="http://schemas.openxmlformats.org/drawingml/2006/main" noGrp="1"/>
          </p:cNvSpPr>
          <p:nvPr/>
        </p:nvSpPr>
        <p:spPr>
          <a:xfrm xmlns:a="http://schemas.openxmlformats.org/drawingml/2006/main">
            <a:off x="1066800" y="3009900"/>
            <a:ext cx="400050" cy="400050"/>
          </a:xfrm>
          <a:prstGeom xmlns:a="http://schemas.openxmlformats.org/drawingml/2006/main" prst="ellipse">
            <a:avLst/>
          </a:prstGeom>
          <a:solidFill xmlns:a="http://schemas.openxmlformats.org/drawingml/2006/main">
            <a:srgbClr val="123C2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4AA570A-E12D-4B16-95C3-E41EF16B459C}"/>
              </a:ext>
            </a:extLst>
          </p:cNvPr>
          <p:cNvSpPr>
            <a:spLocks xmlns:a="http://schemas.openxmlformats.org/drawingml/2006/main" noGrp="1"/>
          </p:cNvSpPr>
          <p:nvPr/>
        </p:nvSpPr>
        <p:spPr>
          <a:xfrm xmlns:a="http://schemas.openxmlformats.org/drawingml/2006/main">
            <a:off x="1066800" y="3105150"/>
            <a:ext cx="4000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2</a:t>
            </a:r>
          </a:p>
        </p:txBody>
      </p:sp>
      <p:sp>
        <p:nvSpPr>
          <p:cNvPr id="15" name="">
            <a:extLst xmlns:a="http://schemas.openxmlformats.org/drawingml/2006/main">
              <a:ext uri="{FF2B5EF4-FFF2-40B4-BE49-F238E27FC236}">
                <a16:creationId xmlns:a16="http://schemas.microsoft.com/office/drawing/2014/main" id="{03666E62-7D53-4376-9AF2-027BE46FC657}"/>
              </a:ext>
            </a:extLst>
          </p:cNvPr>
          <p:cNvSpPr>
            <a:spLocks xmlns:a="http://schemas.openxmlformats.org/drawingml/2006/main" noGrp="1"/>
          </p:cNvSpPr>
          <p:nvPr/>
        </p:nvSpPr>
        <p:spPr>
          <a:xfrm xmlns:a="http://schemas.openxmlformats.org/drawingml/2006/main">
            <a:off x="1657350" y="3048000"/>
            <a:ext cx="57531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650" b="0">
                <a:solidFill>
                  <a:srgbClr val="14231C"/>
                </a:solidFill>
                <a:latin typeface="Arial"/>
                <a:ea typeface="Arial"/>
                <a:cs typeface="Arial"/>
              </a:defRPr>
            </a:pPr>
            <a:r>
              <a:t>أرسل الطلب بالسعر الظاهر</a:t>
            </a:r>
          </a:p>
        </p:txBody>
      </p:sp>
      <p:cxnSp>
        <p:nvCxnSpPr>
          <p:cNvPr id="49" name=""/>
          <p:cNvCxnSpPr/>
          <p:nvPr/>
        </p:nvCxnSpPr>
        <p:spPr>
          <a:xfrm xmlns:a="http://schemas.openxmlformats.org/drawingml/2006/main">
            <a:off x="1066800" y="3581400"/>
            <a:ext cx="6343650" cy="95"/>
          </a:xfrm>
          <a:prstGeom xmlns:a="http://schemas.openxmlformats.org/drawingml/2006/main" prst="straightConnector1">
            <a:avLst/>
          </a:prstGeom>
          <a:ln xmlns:a="http://schemas.openxmlformats.org/drawingml/2006/main" w="9525">
            <a:solidFill>
              <a:srgbClr val="EBEFEC"/>
            </a:solidFill>
            <a:prstDash val="solid"/>
          </a:ln>
        </p:spPr>
      </p:cxnSp>
      <p:sp>
        <p:nvSpPr>
          <p:cNvPr id="17" name="">
            <a:extLst xmlns:a="http://schemas.openxmlformats.org/drawingml/2006/main">
              <a:ext uri="{FF2B5EF4-FFF2-40B4-BE49-F238E27FC236}">
                <a16:creationId xmlns:a16="http://schemas.microsoft.com/office/drawing/2014/main" id="{FAB2F46C-7C6B-4232-969E-61615CE94A38}"/>
              </a:ext>
            </a:extLst>
          </p:cNvPr>
          <p:cNvSpPr>
            <a:spLocks xmlns:a="http://schemas.openxmlformats.org/drawingml/2006/main" noGrp="1"/>
          </p:cNvSpPr>
          <p:nvPr/>
        </p:nvSpPr>
        <p:spPr>
          <a:xfrm xmlns:a="http://schemas.openxmlformats.org/drawingml/2006/main">
            <a:off x="1066800" y="3638550"/>
            <a:ext cx="400050" cy="400050"/>
          </a:xfrm>
          <a:prstGeom xmlns:a="http://schemas.openxmlformats.org/drawingml/2006/main" prst="ellipse">
            <a:avLst/>
          </a:prstGeom>
          <a:solidFill xmlns:a="http://schemas.openxmlformats.org/drawingml/2006/main">
            <a:srgbClr val="123C2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3E7205C-8131-49B0-B8F4-0608AB42D3C3}"/>
              </a:ext>
            </a:extLst>
          </p:cNvPr>
          <p:cNvSpPr>
            <a:spLocks xmlns:a="http://schemas.openxmlformats.org/drawingml/2006/main" noGrp="1"/>
          </p:cNvSpPr>
          <p:nvPr/>
        </p:nvSpPr>
        <p:spPr>
          <a:xfrm xmlns:a="http://schemas.openxmlformats.org/drawingml/2006/main">
            <a:off x="1066800" y="3733800"/>
            <a:ext cx="4000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3</a:t>
            </a:r>
          </a:p>
        </p:txBody>
      </p:sp>
      <p:sp>
        <p:nvSpPr>
          <p:cNvPr id="19" name="">
            <a:extLst xmlns:a="http://schemas.openxmlformats.org/drawingml/2006/main">
              <a:ext uri="{FF2B5EF4-FFF2-40B4-BE49-F238E27FC236}">
                <a16:creationId xmlns:a16="http://schemas.microsoft.com/office/drawing/2014/main" id="{0B1291BB-8F37-465D-8E8C-6B1D39AA7834}"/>
              </a:ext>
            </a:extLst>
          </p:cNvPr>
          <p:cNvSpPr>
            <a:spLocks xmlns:a="http://schemas.openxmlformats.org/drawingml/2006/main" noGrp="1"/>
          </p:cNvSpPr>
          <p:nvPr/>
        </p:nvSpPr>
        <p:spPr>
          <a:xfrm xmlns:a="http://schemas.openxmlformats.org/drawingml/2006/main">
            <a:off x="1657350" y="3676650"/>
            <a:ext cx="57531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650" b="0">
                <a:solidFill>
                  <a:srgbClr val="14231C"/>
                </a:solidFill>
                <a:latin typeface="Arial"/>
                <a:ea typeface="Arial"/>
                <a:cs typeface="Arial"/>
              </a:defRPr>
            </a:pPr>
            <a:r>
              <a:t>افتح الإدارة وشاهد الطلب الجديد</a:t>
            </a:r>
          </a:p>
        </p:txBody>
      </p:sp>
      <p:cxnSp>
        <p:nvCxnSpPr>
          <p:cNvPr id="53" name=""/>
          <p:cNvCxnSpPr/>
          <p:nvPr/>
        </p:nvCxnSpPr>
        <p:spPr>
          <a:xfrm xmlns:a="http://schemas.openxmlformats.org/drawingml/2006/main">
            <a:off x="1066800" y="4210050"/>
            <a:ext cx="6343650" cy="95"/>
          </a:xfrm>
          <a:prstGeom xmlns:a="http://schemas.openxmlformats.org/drawingml/2006/main" prst="straightConnector1">
            <a:avLst/>
          </a:prstGeom>
          <a:ln xmlns:a="http://schemas.openxmlformats.org/drawingml/2006/main" w="9525">
            <a:solidFill>
              <a:srgbClr val="EBEFEC"/>
            </a:solidFill>
            <a:prstDash val="solid"/>
          </a:ln>
        </p:spPr>
      </p:cxnSp>
      <p:sp>
        <p:nvSpPr>
          <p:cNvPr id="21" name="">
            <a:extLst xmlns:a="http://schemas.openxmlformats.org/drawingml/2006/main">
              <a:ext uri="{FF2B5EF4-FFF2-40B4-BE49-F238E27FC236}">
                <a16:creationId xmlns:a16="http://schemas.microsoft.com/office/drawing/2014/main" id="{4AD2A62B-4C2B-4E82-806D-B17F7BB56081}"/>
              </a:ext>
            </a:extLst>
          </p:cNvPr>
          <p:cNvSpPr>
            <a:spLocks xmlns:a="http://schemas.openxmlformats.org/drawingml/2006/main" noGrp="1"/>
          </p:cNvSpPr>
          <p:nvPr/>
        </p:nvSpPr>
        <p:spPr>
          <a:xfrm xmlns:a="http://schemas.openxmlformats.org/drawingml/2006/main">
            <a:off x="1066800" y="4267200"/>
            <a:ext cx="400050" cy="400050"/>
          </a:xfrm>
          <a:prstGeom xmlns:a="http://schemas.openxmlformats.org/drawingml/2006/main" prst="ellipse">
            <a:avLst/>
          </a:prstGeom>
          <a:solidFill xmlns:a="http://schemas.openxmlformats.org/drawingml/2006/main">
            <a:srgbClr val="123C2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A27D2FA-A045-465C-8EC8-C459754B4C34}"/>
              </a:ext>
            </a:extLst>
          </p:cNvPr>
          <p:cNvSpPr>
            <a:spLocks xmlns:a="http://schemas.openxmlformats.org/drawingml/2006/main" noGrp="1"/>
          </p:cNvSpPr>
          <p:nvPr/>
        </p:nvSpPr>
        <p:spPr>
          <a:xfrm xmlns:a="http://schemas.openxmlformats.org/drawingml/2006/main">
            <a:off x="1066800" y="4362450"/>
            <a:ext cx="4000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4</a:t>
            </a:r>
          </a:p>
        </p:txBody>
      </p:sp>
      <p:sp>
        <p:nvSpPr>
          <p:cNvPr id="23" name="">
            <a:extLst xmlns:a="http://schemas.openxmlformats.org/drawingml/2006/main">
              <a:ext uri="{FF2B5EF4-FFF2-40B4-BE49-F238E27FC236}">
                <a16:creationId xmlns:a16="http://schemas.microsoft.com/office/drawing/2014/main" id="{6201A17C-DD38-4E35-A142-823F89B18D3E}"/>
              </a:ext>
            </a:extLst>
          </p:cNvPr>
          <p:cNvSpPr>
            <a:spLocks xmlns:a="http://schemas.openxmlformats.org/drawingml/2006/main" noGrp="1"/>
          </p:cNvSpPr>
          <p:nvPr/>
        </p:nvSpPr>
        <p:spPr>
          <a:xfrm xmlns:a="http://schemas.openxmlformats.org/drawingml/2006/main">
            <a:off x="1657350" y="4305300"/>
            <a:ext cx="57531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650" b="0">
                <a:solidFill>
                  <a:srgbClr val="14231C"/>
                </a:solidFill>
                <a:latin typeface="Arial"/>
                <a:ea typeface="Arial"/>
                <a:cs typeface="Arial"/>
              </a:defRPr>
            </a:pPr>
            <a:r>
              <a:t>حدّث الحالة إلى قيد التجهيز</a:t>
            </a:r>
          </a:p>
        </p:txBody>
      </p:sp>
      <p:cxnSp>
        <p:nvCxnSpPr>
          <p:cNvPr id="57" name=""/>
          <p:cNvCxnSpPr/>
          <p:nvPr/>
        </p:nvCxnSpPr>
        <p:spPr>
          <a:xfrm xmlns:a="http://schemas.openxmlformats.org/drawingml/2006/main">
            <a:off x="1066800" y="4838700"/>
            <a:ext cx="6343650" cy="95"/>
          </a:xfrm>
          <a:prstGeom xmlns:a="http://schemas.openxmlformats.org/drawingml/2006/main" prst="straightConnector1">
            <a:avLst/>
          </a:prstGeom>
          <a:ln xmlns:a="http://schemas.openxmlformats.org/drawingml/2006/main" w="9525">
            <a:solidFill>
              <a:srgbClr val="EBEFEC"/>
            </a:solidFill>
            <a:prstDash val="solid"/>
          </a:ln>
        </p:spPr>
      </p:cxnSp>
      <p:sp>
        <p:nvSpPr>
          <p:cNvPr id="25" name="">
            <a:extLst xmlns:a="http://schemas.openxmlformats.org/drawingml/2006/main">
              <a:ext uri="{FF2B5EF4-FFF2-40B4-BE49-F238E27FC236}">
                <a16:creationId xmlns:a16="http://schemas.microsoft.com/office/drawing/2014/main" id="{6973F705-9002-48F9-8EF2-72C553519F72}"/>
              </a:ext>
            </a:extLst>
          </p:cNvPr>
          <p:cNvSpPr>
            <a:spLocks xmlns:a="http://schemas.openxmlformats.org/drawingml/2006/main" noGrp="1"/>
          </p:cNvSpPr>
          <p:nvPr/>
        </p:nvSpPr>
        <p:spPr>
          <a:xfrm xmlns:a="http://schemas.openxmlformats.org/drawingml/2006/main">
            <a:off x="1066800" y="4895850"/>
            <a:ext cx="400050" cy="400050"/>
          </a:xfrm>
          <a:prstGeom xmlns:a="http://schemas.openxmlformats.org/drawingml/2006/main" prst="ellipse">
            <a:avLst/>
          </a:prstGeom>
          <a:solidFill xmlns:a="http://schemas.openxmlformats.org/drawingml/2006/main">
            <a:srgbClr val="C7963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8C23F78-6FEC-4598-BA0E-6C9606726173}"/>
              </a:ext>
            </a:extLst>
          </p:cNvPr>
          <p:cNvSpPr>
            <a:spLocks xmlns:a="http://schemas.openxmlformats.org/drawingml/2006/main" noGrp="1"/>
          </p:cNvSpPr>
          <p:nvPr/>
        </p:nvSpPr>
        <p:spPr>
          <a:xfrm xmlns:a="http://schemas.openxmlformats.org/drawingml/2006/main">
            <a:off x="1066800" y="4991100"/>
            <a:ext cx="4000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5</a:t>
            </a:r>
          </a:p>
        </p:txBody>
      </p:sp>
      <p:sp>
        <p:nvSpPr>
          <p:cNvPr id="27" name="">
            <a:extLst xmlns:a="http://schemas.openxmlformats.org/drawingml/2006/main">
              <a:ext uri="{FF2B5EF4-FFF2-40B4-BE49-F238E27FC236}">
                <a16:creationId xmlns:a16="http://schemas.microsoft.com/office/drawing/2014/main" id="{C79C7C92-B9D5-4614-9581-E72FC350E9DE}"/>
              </a:ext>
            </a:extLst>
          </p:cNvPr>
          <p:cNvSpPr>
            <a:spLocks xmlns:a="http://schemas.openxmlformats.org/drawingml/2006/main" noGrp="1"/>
          </p:cNvSpPr>
          <p:nvPr/>
        </p:nvSpPr>
        <p:spPr>
          <a:xfrm xmlns:a="http://schemas.openxmlformats.org/drawingml/2006/main">
            <a:off x="1657350" y="4933950"/>
            <a:ext cx="57531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650" b="0">
                <a:solidFill>
                  <a:srgbClr val="14231C"/>
                </a:solidFill>
                <a:latin typeface="Arial"/>
                <a:ea typeface="Arial"/>
                <a:cs typeface="Arial"/>
              </a:defRPr>
            </a:pPr>
            <a:r>
              <a:t>سجل تحصيلًا وراجع رصيد العميل</a:t>
            </a:r>
          </a:p>
        </p:txBody>
      </p:sp>
      <p:sp>
        <p:nvSpPr>
          <p:cNvPr id="28" name="">
            <a:extLst xmlns:a="http://schemas.openxmlformats.org/drawingml/2006/main">
              <a:ext uri="{FF2B5EF4-FFF2-40B4-BE49-F238E27FC236}">
                <a16:creationId xmlns:a16="http://schemas.microsoft.com/office/drawing/2014/main" id="{D3D1B134-B95D-41C2-B9D1-9CAE4FDD6096}"/>
              </a:ext>
            </a:extLst>
          </p:cNvPr>
          <p:cNvSpPr>
            <a:spLocks xmlns:a="http://schemas.openxmlformats.org/drawingml/2006/main" noGrp="1"/>
          </p:cNvSpPr>
          <p:nvPr/>
        </p:nvSpPr>
        <p:spPr>
          <a:xfrm xmlns:a="http://schemas.openxmlformats.org/drawingml/2006/main">
            <a:off x="8286750" y="2114550"/>
            <a:ext cx="3181350" cy="3619500"/>
          </a:xfrm>
          <a:prstGeom xmlns:a="http://schemas.openxmlformats.org/drawingml/2006/main" prst="roundRect">
            <a:avLst>
              <a:gd name="adj" fmla="val 2395"/>
            </a:avLst>
          </a:prstGeom>
          <a:solidFill xmlns:a="http://schemas.openxmlformats.org/drawingml/2006/main">
            <a:srgbClr val="123C2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46B911F-6FB1-49AA-BB7F-0B98CDED4000}"/>
              </a:ext>
            </a:extLst>
          </p:cNvPr>
          <p:cNvSpPr>
            <a:spLocks xmlns:a="http://schemas.openxmlformats.org/drawingml/2006/main" noGrp="1"/>
          </p:cNvSpPr>
          <p:nvPr/>
        </p:nvSpPr>
        <p:spPr>
          <a:xfrm xmlns:a="http://schemas.openxmlformats.org/drawingml/2006/main">
            <a:off x="8610600" y="2514600"/>
            <a:ext cx="253365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800" b="1">
                <a:solidFill>
                  <a:srgbClr val="D9EF9F"/>
                </a:solidFill>
                <a:latin typeface="Arial"/>
                <a:ea typeface="Arial"/>
                <a:cs typeface="Arial"/>
              </a:defRPr>
            </a:pPr>
            <a:r>
              <a:t>نسخة العرض المؤقتة</a:t>
            </a:r>
          </a:p>
        </p:txBody>
      </p:sp>
      <p:sp>
        <p:nvSpPr>
          <p:cNvPr id="30" name="">
            <a:extLst xmlns:a="http://schemas.openxmlformats.org/drawingml/2006/main">
              <a:ext uri="{FF2B5EF4-FFF2-40B4-BE49-F238E27FC236}">
                <a16:creationId xmlns:a16="http://schemas.microsoft.com/office/drawing/2014/main" id="{B4F08964-02D7-4D0F-88FF-68FC78050791}"/>
              </a:ext>
            </a:extLst>
          </p:cNvPr>
          <p:cNvSpPr>
            <a:spLocks xmlns:a="http://schemas.openxmlformats.org/drawingml/2006/main" noGrp="1"/>
          </p:cNvSpPr>
          <p:nvPr/>
        </p:nvSpPr>
        <p:spPr>
          <a:xfrm xmlns:a="http://schemas.openxmlformats.org/drawingml/2006/main">
            <a:off x="8610600" y="3105150"/>
            <a:ext cx="2533650" cy="9144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FFFFFF"/>
                </a:solidFill>
                <a:latin typeface="Arial"/>
                <a:ea typeface="Arial"/>
                <a:cs typeface="Arial"/>
              </a:defRPr>
            </a:pPr>
            <a:r>
              <a:t>napri-sales-phase-one-2026
.logman-gelany.chatgpt.site</a:t>
            </a:r>
          </a:p>
        </p:txBody>
      </p:sp>
      <p:sp>
        <p:nvSpPr>
          <p:cNvPr id="31" name="">
            <a:extLst xmlns:a="http://schemas.openxmlformats.org/drawingml/2006/main">
              <a:ext uri="{FF2B5EF4-FFF2-40B4-BE49-F238E27FC236}">
                <a16:creationId xmlns:a16="http://schemas.microsoft.com/office/drawing/2014/main" id="{F942997D-1C21-42B2-B0D0-84F489B0BE19}"/>
              </a:ext>
            </a:extLst>
          </p:cNvPr>
          <p:cNvSpPr>
            <a:spLocks xmlns:a="http://schemas.openxmlformats.org/drawingml/2006/main" noGrp="1"/>
          </p:cNvSpPr>
          <p:nvPr/>
        </p:nvSpPr>
        <p:spPr>
          <a:xfrm xmlns:a="http://schemas.openxmlformats.org/drawingml/2006/main">
            <a:off x="8610600" y="4324350"/>
            <a:ext cx="2533650" cy="742950"/>
          </a:xfrm>
          <a:prstGeom xmlns:a="http://schemas.openxmlformats.org/drawingml/2006/main" prst="roundRect">
            <a:avLst>
              <a:gd name="adj" fmla="val 10256"/>
            </a:avLst>
          </a:prstGeom>
          <a:solidFill xmlns:a="http://schemas.openxmlformats.org/drawingml/2006/main">
            <a:srgbClr val="EEF7D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924E28E-D3F8-4AB1-9A9F-EBDFF3EC29F3}"/>
              </a:ext>
            </a:extLst>
          </p:cNvPr>
          <p:cNvSpPr>
            <a:spLocks xmlns:a="http://schemas.openxmlformats.org/drawingml/2006/main" noGrp="1"/>
          </p:cNvSpPr>
          <p:nvPr/>
        </p:nvSpPr>
        <p:spPr>
          <a:xfrm xmlns:a="http://schemas.openxmlformats.org/drawingml/2006/main">
            <a:off x="8782050" y="4514850"/>
            <a:ext cx="21907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23C2D"/>
                </a:solidFill>
                <a:latin typeface="Arial"/>
                <a:ea typeface="Arial"/>
                <a:cs typeface="Arial"/>
              </a:defRPr>
            </a:pPr>
            <a:r>
              <a:t>الدخول خاص بالمالك حاليًا</a:t>
            </a:r>
          </a:p>
        </p:txBody>
      </p:sp>
      <p:sp>
        <p:nvSpPr>
          <p:cNvPr id="33" name="">
            <a:extLst xmlns:a="http://schemas.openxmlformats.org/drawingml/2006/main">
              <a:ext uri="{FF2B5EF4-FFF2-40B4-BE49-F238E27FC236}">
                <a16:creationId xmlns:a16="http://schemas.microsoft.com/office/drawing/2014/main" id="{B1D76348-0A05-4435-ADBD-3E46EBD00FFA}"/>
              </a:ext>
            </a:extLst>
          </p:cNvPr>
          <p:cNvSpPr>
            <a:spLocks xmlns:a="http://schemas.openxmlformats.org/drawingml/2006/main" noGrp="1"/>
          </p:cNvSpPr>
          <p:nvPr/>
        </p:nvSpPr>
        <p:spPr>
          <a:xfrm xmlns:a="http://schemas.openxmlformats.org/drawingml/2006/main">
            <a:off x="8610600" y="5238750"/>
            <a:ext cx="253365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EEF7D7"/>
                </a:solidFill>
                <a:latin typeface="Arial"/>
                <a:ea typeface="Arial"/>
                <a:cs typeface="Arial"/>
              </a:defRPr>
            </a:pPr>
            <a:r>
              <a:t>استخدم جهاز العرض المسجل للدخول</a:t>
            </a:r>
          </a:p>
        </p:txBody>
      </p:sp>
    </p:spTree>
    <p:extLst>
      <p:ext uri="{BB962C8B-B14F-4D97-AF65-F5344CB8AC3E}">
        <p14:creationId xmlns:p14="http://schemas.microsoft.com/office/powerpoint/2010/main" val="2008177004"/>
      </p:ext>
    </p:extLst>
  </p:cSld>
</p:sld>
</file>

<file path=ppt/slides/slide8.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A68312C-9412-4F93-AE11-03C3FC090E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3C2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DFBC033-91A6-4D6E-8991-D705A5117DF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9EF9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DEBC2F6-EFDA-4492-BE5A-D98B1DF24BEC}"/>
              </a:ext>
            </a:extLst>
          </p:cNvPr>
          <p:cNvSpPr>
            <a:spLocks xmlns:a="http://schemas.openxmlformats.org/drawingml/2006/main" noGrp="1"/>
          </p:cNvSpPr>
          <p:nvPr/>
        </p:nvSpPr>
        <p:spPr>
          <a:xfrm xmlns:a="http://schemas.openxmlformats.org/drawingml/2006/main">
            <a:off x="704850" y="590550"/>
            <a:ext cx="59055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1">
                <a:solidFill>
                  <a:srgbClr val="D9EF9F"/>
                </a:solidFill>
                <a:latin typeface="Arial"/>
                <a:ea typeface="Arial"/>
                <a:cs typeface="Arial"/>
              </a:defRPr>
            </a:pPr>
            <a:r>
              <a:t>القرار الذي نحتاجه اليوم</a:t>
            </a:r>
          </a:p>
        </p:txBody>
      </p:sp>
      <p:sp>
        <p:nvSpPr>
          <p:cNvPr id="4" name="">
            <a:extLst xmlns:a="http://schemas.openxmlformats.org/drawingml/2006/main">
              <a:ext uri="{FF2B5EF4-FFF2-40B4-BE49-F238E27FC236}">
                <a16:creationId xmlns:a16="http://schemas.microsoft.com/office/drawing/2014/main" id="{FC70E96C-B2AE-4AED-B437-295D25A0DD0E}"/>
              </a:ext>
            </a:extLst>
          </p:cNvPr>
          <p:cNvSpPr>
            <a:spLocks xmlns:a="http://schemas.openxmlformats.org/drawingml/2006/main" noGrp="1"/>
          </p:cNvSpPr>
          <p:nvPr/>
        </p:nvSpPr>
        <p:spPr>
          <a:xfrm xmlns:a="http://schemas.openxmlformats.org/drawingml/2006/main">
            <a:off x="704850" y="1371600"/>
            <a:ext cx="7239000" cy="1352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4200" b="1">
                <a:solidFill>
                  <a:srgbClr val="FFFFFF"/>
                </a:solidFill>
                <a:latin typeface="Arial"/>
                <a:ea typeface="Arial"/>
                <a:cs typeface="Arial"/>
              </a:defRPr>
            </a:pPr>
            <a:r>
              <a:t>نبدأ تشغيل نبري
على نطاق صغير — الآن</a:t>
            </a:r>
          </a:p>
        </p:txBody>
      </p:sp>
      <p:sp>
        <p:nvSpPr>
          <p:cNvPr id="5" name="">
            <a:extLst xmlns:a="http://schemas.openxmlformats.org/drawingml/2006/main">
              <a:ext uri="{FF2B5EF4-FFF2-40B4-BE49-F238E27FC236}">
                <a16:creationId xmlns:a16="http://schemas.microsoft.com/office/drawing/2014/main" id="{1B2C705B-DC62-4229-8F04-F75ABE2A3A1D}"/>
              </a:ext>
            </a:extLst>
          </p:cNvPr>
          <p:cNvSpPr>
            <a:spLocks xmlns:a="http://schemas.openxmlformats.org/drawingml/2006/main" noGrp="1"/>
          </p:cNvSpPr>
          <p:nvPr/>
        </p:nvSpPr>
        <p:spPr>
          <a:xfrm xmlns:a="http://schemas.openxmlformats.org/drawingml/2006/main">
            <a:off x="704850" y="3009900"/>
            <a:ext cx="723900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875" b="0">
                <a:solidFill>
                  <a:srgbClr val="EEF7D7"/>
                </a:solidFill>
                <a:latin typeface="Arial"/>
                <a:ea typeface="Arial"/>
                <a:cs typeface="Arial"/>
              </a:defRPr>
            </a:pPr>
            <a:r>
              <a:t>نختبر الواقع، نجمع الملاحظات، ثم نوسّع بثقة.</a:t>
            </a:r>
          </a:p>
        </p:txBody>
      </p:sp>
      <p:sp>
        <p:nvSpPr>
          <p:cNvPr id="6" name="">
            <a:extLst xmlns:a="http://schemas.openxmlformats.org/drawingml/2006/main">
              <a:ext uri="{FF2B5EF4-FFF2-40B4-BE49-F238E27FC236}">
                <a16:creationId xmlns:a16="http://schemas.microsoft.com/office/drawing/2014/main" id="{CA986592-51D9-4242-AB7F-2C755B21F377}"/>
              </a:ext>
            </a:extLst>
          </p:cNvPr>
          <p:cNvSpPr>
            <a:spLocks xmlns:a="http://schemas.openxmlformats.org/drawingml/2006/main" noGrp="1"/>
          </p:cNvSpPr>
          <p:nvPr/>
        </p:nvSpPr>
        <p:spPr>
          <a:xfrm xmlns:a="http://schemas.openxmlformats.org/drawingml/2006/main">
            <a:off x="704850" y="4095750"/>
            <a:ext cx="327660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8509DAE-E3C7-4D29-A709-157681B876CA}"/>
              </a:ext>
            </a:extLst>
          </p:cNvPr>
          <p:cNvSpPr>
            <a:spLocks xmlns:a="http://schemas.openxmlformats.org/drawingml/2006/main" noGrp="1"/>
          </p:cNvSpPr>
          <p:nvPr/>
        </p:nvSpPr>
        <p:spPr>
          <a:xfrm xmlns:a="http://schemas.openxmlformats.org/drawingml/2006/main">
            <a:off x="971550" y="4305300"/>
            <a:ext cx="476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C7963B"/>
                </a:solidFill>
                <a:latin typeface="Arial"/>
                <a:ea typeface="Arial"/>
                <a:cs typeface="Arial"/>
              </a:defRPr>
            </a:pPr>
            <a:r>
              <a:t>01</a:t>
            </a:r>
          </a:p>
        </p:txBody>
      </p:sp>
      <p:sp>
        <p:nvSpPr>
          <p:cNvPr id="8" name="">
            <a:extLst xmlns:a="http://schemas.openxmlformats.org/drawingml/2006/main">
              <a:ext uri="{FF2B5EF4-FFF2-40B4-BE49-F238E27FC236}">
                <a16:creationId xmlns:a16="http://schemas.microsoft.com/office/drawing/2014/main" id="{3EC36288-E123-4D76-A3E9-1719E4045FFB}"/>
              </a:ext>
            </a:extLst>
          </p:cNvPr>
          <p:cNvSpPr>
            <a:spLocks xmlns:a="http://schemas.openxmlformats.org/drawingml/2006/main" noGrp="1"/>
          </p:cNvSpPr>
          <p:nvPr/>
        </p:nvSpPr>
        <p:spPr>
          <a:xfrm xmlns:a="http://schemas.openxmlformats.org/drawingml/2006/main">
            <a:off x="971550" y="4686300"/>
            <a:ext cx="27241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800" b="1">
                <a:solidFill>
                  <a:srgbClr val="14231C"/>
                </a:solidFill>
                <a:latin typeface="Arial"/>
                <a:ea typeface="Arial"/>
                <a:cs typeface="Arial"/>
              </a:defRPr>
            </a:pPr>
            <a:r>
              <a:t>اعتماد قائمة الأسعار</a:t>
            </a:r>
          </a:p>
        </p:txBody>
      </p:sp>
      <p:sp>
        <p:nvSpPr>
          <p:cNvPr id="9" name="">
            <a:extLst xmlns:a="http://schemas.openxmlformats.org/drawingml/2006/main">
              <a:ext uri="{FF2B5EF4-FFF2-40B4-BE49-F238E27FC236}">
                <a16:creationId xmlns:a16="http://schemas.microsoft.com/office/drawing/2014/main" id="{D87487A7-8396-4A26-A561-5FCFC425E69B}"/>
              </a:ext>
            </a:extLst>
          </p:cNvPr>
          <p:cNvSpPr>
            <a:spLocks xmlns:a="http://schemas.openxmlformats.org/drawingml/2006/main" noGrp="1"/>
          </p:cNvSpPr>
          <p:nvPr/>
        </p:nvSpPr>
        <p:spPr>
          <a:xfrm xmlns:a="http://schemas.openxmlformats.org/drawingml/2006/main">
            <a:off x="971550" y="5105400"/>
            <a:ext cx="272415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66716B"/>
                </a:solidFill>
                <a:latin typeface="Arial"/>
                <a:ea typeface="Arial"/>
                <a:cs typeface="Arial"/>
              </a:defRPr>
            </a:pPr>
            <a:r>
              <a:t>أو تحديد تعديلاتها النهائية</a:t>
            </a:r>
          </a:p>
        </p:txBody>
      </p:sp>
      <p:sp>
        <p:nvSpPr>
          <p:cNvPr id="10" name="">
            <a:extLst xmlns:a="http://schemas.openxmlformats.org/drawingml/2006/main">
              <a:ext uri="{FF2B5EF4-FFF2-40B4-BE49-F238E27FC236}">
                <a16:creationId xmlns:a16="http://schemas.microsoft.com/office/drawing/2014/main" id="{D57423E9-AE50-4328-95AE-D6F25F4ECED3}"/>
              </a:ext>
            </a:extLst>
          </p:cNvPr>
          <p:cNvSpPr>
            <a:spLocks xmlns:a="http://schemas.openxmlformats.org/drawingml/2006/main" noGrp="1"/>
          </p:cNvSpPr>
          <p:nvPr/>
        </p:nvSpPr>
        <p:spPr>
          <a:xfrm xmlns:a="http://schemas.openxmlformats.org/drawingml/2006/main">
            <a:off x="4286250" y="4095750"/>
            <a:ext cx="3276600" cy="1371600"/>
          </a:xfrm>
          <a:prstGeom xmlns:a="http://schemas.openxmlformats.org/drawingml/2006/main" prst="roundRect">
            <a:avLst>
              <a:gd name="adj" fmla="val 5556"/>
            </a:avLst>
          </a:prstGeom>
          <a:solidFill xmlns:a="http://schemas.openxmlformats.org/drawingml/2006/main">
            <a:srgbClr val="D9EF9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F3CA111-F22F-48F9-8B16-2F6CEB9CDDFB}"/>
              </a:ext>
            </a:extLst>
          </p:cNvPr>
          <p:cNvSpPr>
            <a:spLocks xmlns:a="http://schemas.openxmlformats.org/drawingml/2006/main" noGrp="1"/>
          </p:cNvSpPr>
          <p:nvPr/>
        </p:nvSpPr>
        <p:spPr>
          <a:xfrm xmlns:a="http://schemas.openxmlformats.org/drawingml/2006/main">
            <a:off x="4552950" y="4305300"/>
            <a:ext cx="476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23C2D"/>
                </a:solidFill>
                <a:latin typeface="Arial"/>
                <a:ea typeface="Arial"/>
                <a:cs typeface="Arial"/>
              </a:defRPr>
            </a:pPr>
            <a:r>
              <a:t>02</a:t>
            </a:r>
          </a:p>
        </p:txBody>
      </p:sp>
      <p:sp>
        <p:nvSpPr>
          <p:cNvPr id="12" name="">
            <a:extLst xmlns:a="http://schemas.openxmlformats.org/drawingml/2006/main">
              <a:ext uri="{FF2B5EF4-FFF2-40B4-BE49-F238E27FC236}">
                <a16:creationId xmlns:a16="http://schemas.microsoft.com/office/drawing/2014/main" id="{03768356-FA7B-466A-92C6-B8E5B2C26588}"/>
              </a:ext>
            </a:extLst>
          </p:cNvPr>
          <p:cNvSpPr>
            <a:spLocks xmlns:a="http://schemas.openxmlformats.org/drawingml/2006/main" noGrp="1"/>
          </p:cNvSpPr>
          <p:nvPr/>
        </p:nvSpPr>
        <p:spPr>
          <a:xfrm xmlns:a="http://schemas.openxmlformats.org/drawingml/2006/main">
            <a:off x="4552950" y="4686300"/>
            <a:ext cx="27241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800" b="1">
                <a:solidFill>
                  <a:srgbClr val="123C2D"/>
                </a:solidFill>
                <a:latin typeface="Arial"/>
                <a:ea typeface="Arial"/>
                <a:cs typeface="Arial"/>
              </a:defRPr>
            </a:pPr>
            <a:r>
              <a:t>اختيار أول 20 عميلًا</a:t>
            </a:r>
          </a:p>
        </p:txBody>
      </p:sp>
      <p:sp>
        <p:nvSpPr>
          <p:cNvPr id="13" name="">
            <a:extLst xmlns:a="http://schemas.openxmlformats.org/drawingml/2006/main">
              <a:ext uri="{FF2B5EF4-FFF2-40B4-BE49-F238E27FC236}">
                <a16:creationId xmlns:a16="http://schemas.microsoft.com/office/drawing/2014/main" id="{6E692928-4553-4F51-9941-40932F33F68D}"/>
              </a:ext>
            </a:extLst>
          </p:cNvPr>
          <p:cNvSpPr>
            <a:spLocks xmlns:a="http://schemas.openxmlformats.org/drawingml/2006/main" noGrp="1"/>
          </p:cNvSpPr>
          <p:nvPr/>
        </p:nvSpPr>
        <p:spPr>
          <a:xfrm xmlns:a="http://schemas.openxmlformats.org/drawingml/2006/main">
            <a:off x="4552950" y="5105400"/>
            <a:ext cx="272415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1D5A43"/>
                </a:solidFill>
                <a:latin typeface="Arial"/>
                <a:ea typeface="Arial"/>
                <a:cs typeface="Arial"/>
              </a:defRPr>
            </a:pPr>
            <a:r>
              <a:t>للتجربة التشغيلية الأولى</a:t>
            </a:r>
          </a:p>
        </p:txBody>
      </p:sp>
      <p:sp>
        <p:nvSpPr>
          <p:cNvPr id="14" name="">
            <a:extLst xmlns:a="http://schemas.openxmlformats.org/drawingml/2006/main">
              <a:ext uri="{FF2B5EF4-FFF2-40B4-BE49-F238E27FC236}">
                <a16:creationId xmlns:a16="http://schemas.microsoft.com/office/drawing/2014/main" id="{7273AA60-BBFC-4460-9B66-D65519E466E2}"/>
              </a:ext>
            </a:extLst>
          </p:cNvPr>
          <p:cNvSpPr>
            <a:spLocks xmlns:a="http://schemas.openxmlformats.org/drawingml/2006/main" noGrp="1"/>
          </p:cNvSpPr>
          <p:nvPr/>
        </p:nvSpPr>
        <p:spPr>
          <a:xfrm xmlns:a="http://schemas.openxmlformats.org/drawingml/2006/main">
            <a:off x="7867650" y="4095750"/>
            <a:ext cx="327660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6D77AE4-1887-4456-A085-13CF344B42E9}"/>
              </a:ext>
            </a:extLst>
          </p:cNvPr>
          <p:cNvSpPr>
            <a:spLocks xmlns:a="http://schemas.openxmlformats.org/drawingml/2006/main" noGrp="1"/>
          </p:cNvSpPr>
          <p:nvPr/>
        </p:nvSpPr>
        <p:spPr>
          <a:xfrm xmlns:a="http://schemas.openxmlformats.org/drawingml/2006/main">
            <a:off x="8134350" y="4305300"/>
            <a:ext cx="476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C7963B"/>
                </a:solidFill>
                <a:latin typeface="Arial"/>
                <a:ea typeface="Arial"/>
                <a:cs typeface="Arial"/>
              </a:defRPr>
            </a:pPr>
            <a:r>
              <a:t>03</a:t>
            </a:r>
          </a:p>
        </p:txBody>
      </p:sp>
      <p:sp>
        <p:nvSpPr>
          <p:cNvPr id="16" name="">
            <a:extLst xmlns:a="http://schemas.openxmlformats.org/drawingml/2006/main">
              <a:ext uri="{FF2B5EF4-FFF2-40B4-BE49-F238E27FC236}">
                <a16:creationId xmlns:a16="http://schemas.microsoft.com/office/drawing/2014/main" id="{F8BD8A90-B7B4-4785-BD8B-969F9169F88D}"/>
              </a:ext>
            </a:extLst>
          </p:cNvPr>
          <p:cNvSpPr>
            <a:spLocks xmlns:a="http://schemas.openxmlformats.org/drawingml/2006/main" noGrp="1"/>
          </p:cNvSpPr>
          <p:nvPr/>
        </p:nvSpPr>
        <p:spPr>
          <a:xfrm xmlns:a="http://schemas.openxmlformats.org/drawingml/2006/main">
            <a:off x="8134350" y="4686300"/>
            <a:ext cx="27241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800" b="1">
                <a:solidFill>
                  <a:srgbClr val="14231C"/>
                </a:solidFill>
                <a:latin typeface="Arial"/>
                <a:ea typeface="Arial"/>
                <a:cs typeface="Arial"/>
              </a:defRPr>
            </a:pPr>
            <a:r>
              <a:t>تثبيت مسؤولية التشغيل</a:t>
            </a:r>
          </a:p>
        </p:txBody>
      </p:sp>
      <p:sp>
        <p:nvSpPr>
          <p:cNvPr id="17" name="">
            <a:extLst xmlns:a="http://schemas.openxmlformats.org/drawingml/2006/main">
              <a:ext uri="{FF2B5EF4-FFF2-40B4-BE49-F238E27FC236}">
                <a16:creationId xmlns:a16="http://schemas.microsoft.com/office/drawing/2014/main" id="{EF4F2C8C-A080-49D4-BE5D-60215BD27EA2}"/>
              </a:ext>
            </a:extLst>
          </p:cNvPr>
          <p:cNvSpPr>
            <a:spLocks xmlns:a="http://schemas.openxmlformats.org/drawingml/2006/main" noGrp="1"/>
          </p:cNvSpPr>
          <p:nvPr/>
        </p:nvSpPr>
        <p:spPr>
          <a:xfrm xmlns:a="http://schemas.openxmlformats.org/drawingml/2006/main">
            <a:off x="8134350" y="5105400"/>
            <a:ext cx="272415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a:solidFill>
                  <a:srgbClr val="66716B"/>
                </a:solidFill>
                <a:latin typeface="Arial"/>
                <a:ea typeface="Arial"/>
                <a:cs typeface="Arial"/>
              </a:defRPr>
            </a:pPr>
            <a:r>
              <a:t>من يراجع الطلبات والتحصيل</a:t>
            </a:r>
          </a:p>
        </p:txBody>
      </p:sp>
      <p:sp>
        <p:nvSpPr>
          <p:cNvPr id="18" name="">
            <a:extLst xmlns:a="http://schemas.openxmlformats.org/drawingml/2006/main">
              <a:ext uri="{FF2B5EF4-FFF2-40B4-BE49-F238E27FC236}">
                <a16:creationId xmlns:a16="http://schemas.microsoft.com/office/drawing/2014/main" id="{7318A710-93E7-4387-9E16-FC669813112B}"/>
              </a:ext>
            </a:extLst>
          </p:cNvPr>
          <p:cNvSpPr>
            <a:spLocks xmlns:a="http://schemas.openxmlformats.org/drawingml/2006/main" noGrp="1"/>
          </p:cNvSpPr>
          <p:nvPr/>
        </p:nvSpPr>
        <p:spPr>
          <a:xfrm xmlns:a="http://schemas.openxmlformats.org/drawingml/2006/main">
            <a:off x="704850" y="6210300"/>
            <a:ext cx="102870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D9EF9F"/>
                </a:solidFill>
                <a:latin typeface="Arial"/>
                <a:ea typeface="Arial"/>
                <a:cs typeface="Arial"/>
              </a:defRPr>
            </a:pPr>
            <a:r>
              <a:t>نبري · نبيع بوضوح، ونتوسع على بيانات</a:t>
            </a:r>
          </a:p>
        </p:txBody>
      </p:sp>
    </p:spTree>
    <p:extLst>
      <p:ext uri="{BB962C8B-B14F-4D97-AF65-F5344CB8AC3E}">
        <p14:creationId xmlns:p14="http://schemas.microsoft.com/office/powerpoint/2010/main" val="13942546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2026-08-21T10:07:11.4180000Z</dcterms:created>
  <dcterms:modified xsi:type="dcterms:W3CDTF">2026-08-21T10:07:11.4180000Z</dcterms:modified>
</coreProperties>
</file>